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Montserrat" charset="1" panose="00000500000000000000"/>
      <p:regular r:id="rId29"/>
    </p:embeddedFont>
    <p:embeddedFont>
      <p:font typeface="Montserrat Bold" charset="1" panose="00000800000000000000"/>
      <p:regular r:id="rId30"/>
    </p:embeddedFont>
    <p:embeddedFont>
      <p:font typeface="Montserrat Ultra-Bold" charset="1" panose="00000900000000000000"/>
      <p:regular r:id="rId31"/>
    </p:embeddedFont>
    <p:embeddedFont>
      <p:font typeface="Montserrat Heavy" charset="1" panose="00000A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26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27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8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4931059" y="-495316"/>
            <a:ext cx="18580740" cy="10168732"/>
          </a:xfrm>
          <a:custGeom>
            <a:avLst/>
            <a:gdLst/>
            <a:ahLst/>
            <a:cxnLst/>
            <a:rect r="r" b="b" t="t" l="l"/>
            <a:pathLst>
              <a:path h="10168732" w="18580740">
                <a:moveTo>
                  <a:pt x="0" y="0"/>
                </a:moveTo>
                <a:lnTo>
                  <a:pt x="18580740" y="0"/>
                </a:lnTo>
                <a:lnTo>
                  <a:pt x="18580740" y="10168732"/>
                </a:lnTo>
                <a:lnTo>
                  <a:pt x="0" y="10168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83041" y="574210"/>
            <a:ext cx="7795077" cy="10287000"/>
          </a:xfrm>
          <a:custGeom>
            <a:avLst/>
            <a:gdLst/>
            <a:ahLst/>
            <a:cxnLst/>
            <a:rect r="r" b="b" t="t" l="l"/>
            <a:pathLst>
              <a:path h="10287000" w="7795077">
                <a:moveTo>
                  <a:pt x="0" y="0"/>
                </a:moveTo>
                <a:lnTo>
                  <a:pt x="7795077" y="0"/>
                </a:lnTo>
                <a:lnTo>
                  <a:pt x="779507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6000"/>
            </a:blip>
            <a:stretch>
              <a:fillRect l="-18457" t="-4537" r="-23506" b="-4537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84702" y="1880479"/>
            <a:ext cx="8159298" cy="7114760"/>
          </a:xfrm>
          <a:custGeom>
            <a:avLst/>
            <a:gdLst/>
            <a:ahLst/>
            <a:cxnLst/>
            <a:rect r="r" b="b" t="t" l="l"/>
            <a:pathLst>
              <a:path h="7114760" w="8159298">
                <a:moveTo>
                  <a:pt x="8159298" y="0"/>
                </a:moveTo>
                <a:lnTo>
                  <a:pt x="0" y="0"/>
                </a:lnTo>
                <a:lnTo>
                  <a:pt x="0" y="7114760"/>
                </a:lnTo>
                <a:lnTo>
                  <a:pt x="8159298" y="7114760"/>
                </a:lnTo>
                <a:lnTo>
                  <a:pt x="8159298" y="0"/>
                </a:lnTo>
                <a:close/>
              </a:path>
            </a:pathLst>
          </a:custGeom>
          <a:blipFill>
            <a:blip r:embed="rId5"/>
            <a:stretch>
              <a:fillRect l="0" t="-2347" r="0" b="-2347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043752" y="6071885"/>
            <a:ext cx="6492240" cy="0"/>
          </a:xfrm>
          <a:prstGeom prst="line">
            <a:avLst/>
          </a:prstGeom>
          <a:ln cap="flat" w="38100">
            <a:solidFill>
              <a:srgbClr val="7594D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98776" y="574210"/>
            <a:ext cx="2246901" cy="1196842"/>
          </a:xfrm>
          <a:custGeom>
            <a:avLst/>
            <a:gdLst/>
            <a:ahLst/>
            <a:cxnLst/>
            <a:rect r="r" b="b" t="t" l="l"/>
            <a:pathLst>
              <a:path h="1196842" w="2246901">
                <a:moveTo>
                  <a:pt x="0" y="0"/>
                </a:moveTo>
                <a:lnTo>
                  <a:pt x="2246901" y="0"/>
                </a:lnTo>
                <a:lnTo>
                  <a:pt x="2246901" y="1196842"/>
                </a:lnTo>
                <a:lnTo>
                  <a:pt x="0" y="11968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494297" y="654016"/>
            <a:ext cx="1828987" cy="1228633"/>
          </a:xfrm>
          <a:custGeom>
            <a:avLst/>
            <a:gdLst/>
            <a:ahLst/>
            <a:cxnLst/>
            <a:rect r="r" b="b" t="t" l="l"/>
            <a:pathLst>
              <a:path h="1228633" w="1828987">
                <a:moveTo>
                  <a:pt x="0" y="0"/>
                </a:moveTo>
                <a:lnTo>
                  <a:pt x="1828987" y="0"/>
                </a:lnTo>
                <a:lnTo>
                  <a:pt x="1828987" y="1228632"/>
                </a:lnTo>
                <a:lnTo>
                  <a:pt x="0" y="12286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437999" y="-605435"/>
            <a:ext cx="4357692" cy="3268269"/>
          </a:xfrm>
          <a:custGeom>
            <a:avLst/>
            <a:gdLst/>
            <a:ahLst/>
            <a:cxnLst/>
            <a:rect r="r" b="b" t="t" l="l"/>
            <a:pathLst>
              <a:path h="3268269" w="4357692">
                <a:moveTo>
                  <a:pt x="0" y="0"/>
                </a:moveTo>
                <a:lnTo>
                  <a:pt x="4357693" y="0"/>
                </a:lnTo>
                <a:lnTo>
                  <a:pt x="4357693" y="3268270"/>
                </a:lnTo>
                <a:lnTo>
                  <a:pt x="0" y="32682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073899" y="3445667"/>
            <a:ext cx="5093764" cy="89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3"/>
              </a:lnSpc>
            </a:pPr>
            <a:r>
              <a:rPr lang="en-US" sz="5302">
                <a:solidFill>
                  <a:srgbClr val="7594D3"/>
                </a:solidFill>
                <a:latin typeface="Montserrat"/>
                <a:ea typeface="Montserrat"/>
                <a:cs typeface="Montserrat"/>
                <a:sym typeface="Montserrat"/>
              </a:rPr>
              <a:t>Aplicativo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43752" y="6433835"/>
            <a:ext cx="7751940" cy="306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3"/>
              </a:lnSpc>
            </a:pPr>
            <a:r>
              <a:rPr lang="en-US" sz="2902" b="true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Nome dos alunos:</a:t>
            </a:r>
          </a:p>
          <a:p>
            <a:pPr algn="l">
              <a:lnSpc>
                <a:spcPts val="4063"/>
              </a:lnSpc>
            </a:pPr>
            <a:r>
              <a:rPr lang="en-US" sz="2902">
                <a:solidFill>
                  <a:srgbClr val="7594D3"/>
                </a:solidFill>
                <a:latin typeface="Montserrat"/>
                <a:ea typeface="Montserrat"/>
                <a:cs typeface="Montserrat"/>
                <a:sym typeface="Montserrat"/>
              </a:rPr>
              <a:t>Lídia Oliveira Esteves</a:t>
            </a:r>
          </a:p>
          <a:p>
            <a:pPr algn="l">
              <a:lnSpc>
                <a:spcPts val="4063"/>
              </a:lnSpc>
            </a:pPr>
            <a:r>
              <a:rPr lang="en-US" sz="2902">
                <a:solidFill>
                  <a:srgbClr val="7594D3"/>
                </a:solidFill>
                <a:latin typeface="Montserrat"/>
                <a:ea typeface="Montserrat"/>
                <a:cs typeface="Montserrat"/>
                <a:sym typeface="Montserrat"/>
              </a:rPr>
              <a:t>Andrey Covas Nogueira</a:t>
            </a:r>
          </a:p>
          <a:p>
            <a:pPr algn="l">
              <a:lnSpc>
                <a:spcPts val="4063"/>
              </a:lnSpc>
            </a:pPr>
          </a:p>
          <a:p>
            <a:pPr algn="l">
              <a:lnSpc>
                <a:spcPts val="4063"/>
              </a:lnSpc>
            </a:pPr>
            <a:r>
              <a:rPr lang="en-US" sz="2902" b="true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Orientadora: </a:t>
            </a:r>
            <a:r>
              <a:rPr lang="en-US" sz="2902">
                <a:solidFill>
                  <a:srgbClr val="7594D3"/>
                </a:solidFill>
                <a:latin typeface="Montserrat"/>
                <a:ea typeface="Montserrat"/>
                <a:cs typeface="Montserrat"/>
                <a:sym typeface="Montserrat"/>
              </a:rPr>
              <a:t>Profa. Denilce de Almeida Oliveira Veloso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73899" y="4173119"/>
            <a:ext cx="7562242" cy="1486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31"/>
              </a:lnSpc>
            </a:pPr>
            <a:r>
              <a:rPr lang="en-US" sz="8665" b="true">
                <a:solidFill>
                  <a:srgbClr val="65C5D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meu TDAH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5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9712807" y="1639196"/>
            <a:ext cx="14261374" cy="7804861"/>
          </a:xfrm>
          <a:custGeom>
            <a:avLst/>
            <a:gdLst/>
            <a:ahLst/>
            <a:cxnLst/>
            <a:rect r="r" b="b" t="t" l="l"/>
            <a:pathLst>
              <a:path h="7804861" w="14261374">
                <a:moveTo>
                  <a:pt x="0" y="0"/>
                </a:moveTo>
                <a:lnTo>
                  <a:pt x="14261374" y="0"/>
                </a:lnTo>
                <a:lnTo>
                  <a:pt x="14261374" y="7804861"/>
                </a:lnTo>
                <a:lnTo>
                  <a:pt x="0" y="780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3812858" y="5047591"/>
            <a:ext cx="1543500" cy="1543500"/>
          </a:xfrm>
          <a:custGeom>
            <a:avLst/>
            <a:gdLst/>
            <a:ahLst/>
            <a:cxnLst/>
            <a:rect r="r" b="b" t="t" l="l"/>
            <a:pathLst>
              <a:path h="1543500" w="1543500">
                <a:moveTo>
                  <a:pt x="1543500" y="0"/>
                </a:moveTo>
                <a:lnTo>
                  <a:pt x="0" y="0"/>
                </a:lnTo>
                <a:lnTo>
                  <a:pt x="0" y="1543499"/>
                </a:lnTo>
                <a:lnTo>
                  <a:pt x="1543500" y="1543499"/>
                </a:lnTo>
                <a:lnTo>
                  <a:pt x="15435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356358" y="3695910"/>
            <a:ext cx="1351681" cy="1351681"/>
          </a:xfrm>
          <a:custGeom>
            <a:avLst/>
            <a:gdLst/>
            <a:ahLst/>
            <a:cxnLst/>
            <a:rect r="r" b="b" t="t" l="l"/>
            <a:pathLst>
              <a:path h="1351681" w="1351681">
                <a:moveTo>
                  <a:pt x="1351681" y="0"/>
                </a:moveTo>
                <a:lnTo>
                  <a:pt x="0" y="0"/>
                </a:lnTo>
                <a:lnTo>
                  <a:pt x="0" y="1351681"/>
                </a:lnTo>
                <a:lnTo>
                  <a:pt x="1351681" y="1351681"/>
                </a:lnTo>
                <a:lnTo>
                  <a:pt x="135168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44322" y="2890939"/>
            <a:ext cx="4044432" cy="83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6000" spc="210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Contexto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4322" y="4117253"/>
            <a:ext cx="9670982" cy="2629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8"/>
              </a:lnSpc>
            </a:pPr>
            <a:r>
              <a:rPr lang="en-US" sz="2600" spc="143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O TDAH é uma condição que dificulta manter foco, organizar tarefas e gerenciar o tempo. Em um ambiente cheio de estímulos e notificações, esses desafios se intensificam, afetando rotina, produtividade e bem-estar.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71786" y="1668944"/>
            <a:ext cx="8273643" cy="82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6000" spc="210">
                <a:solidFill>
                  <a:srgbClr val="BD93C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Problema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-10800000">
            <a:off x="9519835" y="8402599"/>
            <a:ext cx="2860802" cy="2860802"/>
          </a:xfrm>
          <a:custGeom>
            <a:avLst/>
            <a:gdLst/>
            <a:ahLst/>
            <a:cxnLst/>
            <a:rect r="r" b="b" t="t" l="l"/>
            <a:pathLst>
              <a:path h="2860802" w="2860802">
                <a:moveTo>
                  <a:pt x="2860802" y="0"/>
                </a:moveTo>
                <a:lnTo>
                  <a:pt x="0" y="0"/>
                </a:lnTo>
                <a:lnTo>
                  <a:pt x="0" y="2860802"/>
                </a:lnTo>
                <a:lnTo>
                  <a:pt x="2860802" y="2860802"/>
                </a:lnTo>
                <a:lnTo>
                  <a:pt x="2860802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2380637" y="5897324"/>
            <a:ext cx="2505275" cy="2505275"/>
          </a:xfrm>
          <a:custGeom>
            <a:avLst/>
            <a:gdLst/>
            <a:ahLst/>
            <a:cxnLst/>
            <a:rect r="r" b="b" t="t" l="l"/>
            <a:pathLst>
              <a:path h="2505275" w="2505275">
                <a:moveTo>
                  <a:pt x="2505275" y="0"/>
                </a:moveTo>
                <a:lnTo>
                  <a:pt x="0" y="0"/>
                </a:lnTo>
                <a:lnTo>
                  <a:pt x="0" y="2505275"/>
                </a:lnTo>
                <a:lnTo>
                  <a:pt x="2505275" y="2505275"/>
                </a:lnTo>
                <a:lnTo>
                  <a:pt x="2505275" y="0"/>
                </a:lnTo>
                <a:close/>
              </a:path>
            </a:pathLst>
          </a:custGeom>
          <a:blipFill>
            <a:blip r:embed="rId4">
              <a:alphaModFix amt="6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71786" y="2920304"/>
            <a:ext cx="7892643" cy="422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38"/>
              </a:lnSpc>
              <a:spcBef>
                <a:spcPct val="0"/>
              </a:spcBef>
            </a:pPr>
            <a:r>
              <a:rPr lang="en-US" b="true" sz="2600" spc="143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</a:t>
            </a:r>
            <a:r>
              <a:rPr lang="en-US" b="true" sz="2600" spc="143" strike="noStrike" u="none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essoas com TDAH enfrentam esquecimentos frequentes, perda de prazos e dificuldade em manter hábitos consistentes. Isso gera estresse e prejuízos acadêmicos, profissionais e pessoais, evidenciando a falta de ferramentas adequadas às suas necessidades.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101285" y="-168106"/>
            <a:ext cx="7445316" cy="12130861"/>
          </a:xfrm>
          <a:custGeom>
            <a:avLst/>
            <a:gdLst/>
            <a:ahLst/>
            <a:cxnLst/>
            <a:rect r="r" b="b" t="t" l="l"/>
            <a:pathLst>
              <a:path h="12130861" w="7445316">
                <a:moveTo>
                  <a:pt x="0" y="0"/>
                </a:moveTo>
                <a:lnTo>
                  <a:pt x="7445316" y="0"/>
                </a:lnTo>
                <a:lnTo>
                  <a:pt x="7445316" y="12130861"/>
                </a:lnTo>
                <a:lnTo>
                  <a:pt x="0" y="121308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8617891" y="7647933"/>
            <a:ext cx="2860802" cy="2860802"/>
          </a:xfrm>
          <a:custGeom>
            <a:avLst/>
            <a:gdLst/>
            <a:ahLst/>
            <a:cxnLst/>
            <a:rect r="r" b="b" t="t" l="l"/>
            <a:pathLst>
              <a:path h="2860802" w="2860802">
                <a:moveTo>
                  <a:pt x="2860802" y="0"/>
                </a:moveTo>
                <a:lnTo>
                  <a:pt x="0" y="0"/>
                </a:lnTo>
                <a:lnTo>
                  <a:pt x="0" y="2860802"/>
                </a:lnTo>
                <a:lnTo>
                  <a:pt x="2860802" y="2860802"/>
                </a:lnTo>
                <a:lnTo>
                  <a:pt x="2860802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1478693" y="5142659"/>
            <a:ext cx="2505275" cy="2505275"/>
          </a:xfrm>
          <a:custGeom>
            <a:avLst/>
            <a:gdLst/>
            <a:ahLst/>
            <a:cxnLst/>
            <a:rect r="r" b="b" t="t" l="l"/>
            <a:pathLst>
              <a:path h="2505275" w="2505275">
                <a:moveTo>
                  <a:pt x="2505274" y="0"/>
                </a:moveTo>
                <a:lnTo>
                  <a:pt x="0" y="0"/>
                </a:lnTo>
                <a:lnTo>
                  <a:pt x="0" y="2505274"/>
                </a:lnTo>
                <a:lnTo>
                  <a:pt x="2505274" y="2505274"/>
                </a:lnTo>
                <a:lnTo>
                  <a:pt x="2505274" y="0"/>
                </a:lnTo>
                <a:close/>
              </a:path>
            </a:pathLst>
          </a:custGeom>
          <a:blipFill>
            <a:blip r:embed="rId4">
              <a:alphaModFix amt="6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53633" y="5841092"/>
            <a:ext cx="10062943" cy="6834416"/>
          </a:xfrm>
          <a:custGeom>
            <a:avLst/>
            <a:gdLst/>
            <a:ahLst/>
            <a:cxnLst/>
            <a:rect r="r" b="b" t="t" l="l"/>
            <a:pathLst>
              <a:path h="6834416" w="10062943">
                <a:moveTo>
                  <a:pt x="0" y="0"/>
                </a:moveTo>
                <a:lnTo>
                  <a:pt x="10062943" y="0"/>
                </a:lnTo>
                <a:lnTo>
                  <a:pt x="10062943" y="6834416"/>
                </a:lnTo>
                <a:lnTo>
                  <a:pt x="0" y="68344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71786" y="1635535"/>
            <a:ext cx="11754743" cy="67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92"/>
              </a:lnSpc>
              <a:spcBef>
                <a:spcPct val="0"/>
              </a:spcBef>
            </a:pPr>
            <a:r>
              <a:rPr lang="en-US" b="true" sz="4900" spc="171">
                <a:solidFill>
                  <a:srgbClr val="BD93C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Proposta de Solução de Software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71786" y="2850810"/>
            <a:ext cx="9188558" cy="2629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38"/>
              </a:lnSpc>
              <a:spcBef>
                <a:spcPct val="0"/>
              </a:spcBef>
            </a:pPr>
            <a:r>
              <a:rPr lang="en-US" b="true" sz="2600" spc="143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Criar um aplicativo móvel voltado para pessoas com TDAH, com interface clara e dinâmica, que permita organizar rotinas, agendar tarefas rapidamente, criar lembretes personalizados e visualizar o progresso de forma simples.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8617891" y="7827899"/>
            <a:ext cx="2860802" cy="2860802"/>
          </a:xfrm>
          <a:custGeom>
            <a:avLst/>
            <a:gdLst/>
            <a:ahLst/>
            <a:cxnLst/>
            <a:rect r="r" b="b" t="t" l="l"/>
            <a:pathLst>
              <a:path h="2860802" w="2860802">
                <a:moveTo>
                  <a:pt x="2860802" y="0"/>
                </a:moveTo>
                <a:lnTo>
                  <a:pt x="0" y="0"/>
                </a:lnTo>
                <a:lnTo>
                  <a:pt x="0" y="2860802"/>
                </a:lnTo>
                <a:lnTo>
                  <a:pt x="2860802" y="2860802"/>
                </a:lnTo>
                <a:lnTo>
                  <a:pt x="2860802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1478693" y="5142659"/>
            <a:ext cx="2505275" cy="2505275"/>
          </a:xfrm>
          <a:custGeom>
            <a:avLst/>
            <a:gdLst/>
            <a:ahLst/>
            <a:cxnLst/>
            <a:rect r="r" b="b" t="t" l="l"/>
            <a:pathLst>
              <a:path h="2505275" w="2505275">
                <a:moveTo>
                  <a:pt x="2505274" y="0"/>
                </a:moveTo>
                <a:lnTo>
                  <a:pt x="0" y="0"/>
                </a:lnTo>
                <a:lnTo>
                  <a:pt x="0" y="2505274"/>
                </a:lnTo>
                <a:lnTo>
                  <a:pt x="2505274" y="2505274"/>
                </a:lnTo>
                <a:lnTo>
                  <a:pt x="2505274" y="0"/>
                </a:lnTo>
                <a:close/>
              </a:path>
            </a:pathLst>
          </a:custGeom>
          <a:blipFill>
            <a:blip r:embed="rId4">
              <a:alphaModFix amt="6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53633" y="5841092"/>
            <a:ext cx="10062943" cy="6834416"/>
          </a:xfrm>
          <a:custGeom>
            <a:avLst/>
            <a:gdLst/>
            <a:ahLst/>
            <a:cxnLst/>
            <a:rect r="r" b="b" t="t" l="l"/>
            <a:pathLst>
              <a:path h="6834416" w="10062943">
                <a:moveTo>
                  <a:pt x="0" y="0"/>
                </a:moveTo>
                <a:lnTo>
                  <a:pt x="10062943" y="0"/>
                </a:lnTo>
                <a:lnTo>
                  <a:pt x="10062943" y="6834416"/>
                </a:lnTo>
                <a:lnTo>
                  <a:pt x="0" y="68344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889010" y="642774"/>
            <a:ext cx="7623303" cy="1524661"/>
            <a:chOff x="0" y="0"/>
            <a:chExt cx="10164404" cy="20328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64404" cy="2032881"/>
            </a:xfrm>
            <a:custGeom>
              <a:avLst/>
              <a:gdLst/>
              <a:ahLst/>
              <a:cxnLst/>
              <a:rect r="r" b="b" t="t" l="l"/>
              <a:pathLst>
                <a:path h="2032881" w="10164404">
                  <a:moveTo>
                    <a:pt x="0" y="0"/>
                  </a:moveTo>
                  <a:lnTo>
                    <a:pt x="10164404" y="0"/>
                  </a:lnTo>
                  <a:lnTo>
                    <a:pt x="10164404" y="2032881"/>
                  </a:lnTo>
                  <a:lnTo>
                    <a:pt x="0" y="2032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704536" y="657649"/>
              <a:ext cx="7605693" cy="7747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67"/>
                </a:lnSpc>
                <a:spcBef>
                  <a:spcPct val="0"/>
                </a:spcBef>
              </a:pPr>
              <a:r>
                <a:rPr lang="en-US" b="true" sz="4136" spc="144">
                  <a:solidFill>
                    <a:srgbClr val="FEFEFE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Metas e objetivos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8799" y="2626922"/>
            <a:ext cx="13030988" cy="3532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2" indent="-259081" lvl="1">
              <a:lnSpc>
                <a:spcPts val="5928"/>
              </a:lnSpc>
              <a:buFont typeface="Arial"/>
              <a:buChar char="•"/>
            </a:pPr>
            <a:r>
              <a:rPr lang="en-US" b="true" sz="2400" spc="132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Aumentar autonomia e reduzir esquecimentos.</a:t>
            </a:r>
          </a:p>
          <a:p>
            <a:pPr algn="l" marL="518162" indent="-259081" lvl="1">
              <a:lnSpc>
                <a:spcPts val="5928"/>
              </a:lnSpc>
              <a:buFont typeface="Arial"/>
              <a:buChar char="•"/>
            </a:pPr>
            <a:r>
              <a:rPr lang="en-US" b="true" sz="2400" spc="132">
                <a:solidFill>
                  <a:srgbClr val="65C5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Facilitar a gestão do tempo com recursos adaptados ao TDAH.</a:t>
            </a:r>
          </a:p>
          <a:p>
            <a:pPr algn="l" marL="518162" indent="-259081" lvl="1">
              <a:lnSpc>
                <a:spcPts val="5928"/>
              </a:lnSpc>
              <a:buFont typeface="Arial"/>
              <a:buChar char="•"/>
            </a:pPr>
            <a:r>
              <a:rPr lang="en-US" b="true" sz="2400" spc="132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Engajar o usuário por meio de gamificação (recompensas, metas, evolução).</a:t>
            </a:r>
          </a:p>
          <a:p>
            <a:pPr algn="l" marL="0" indent="0" lvl="0">
              <a:lnSpc>
                <a:spcPts val="3912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18799" y="5112795"/>
            <a:ext cx="8081758" cy="441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28"/>
              </a:lnSpc>
            </a:pPr>
          </a:p>
          <a:p>
            <a:pPr algn="l" marL="518162" indent="-259081" lvl="1">
              <a:lnSpc>
                <a:spcPts val="5928"/>
              </a:lnSpc>
              <a:buFont typeface="Arial"/>
              <a:buChar char="•"/>
            </a:pPr>
            <a:r>
              <a:rPr lang="en-US" b="true" sz="2400" spc="132">
                <a:solidFill>
                  <a:srgbClr val="65C5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Oferecer experiência personalizada com IA, incluindo mascote virtual de apoio.</a:t>
            </a:r>
          </a:p>
          <a:p>
            <a:pPr algn="l" marL="518162" indent="-259081" lvl="1">
              <a:lnSpc>
                <a:spcPts val="5928"/>
              </a:lnSpc>
              <a:buFont typeface="Arial"/>
              <a:buChar char="•"/>
            </a:pPr>
            <a:r>
              <a:rPr lang="en-US" b="true" sz="2400" spc="132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Tornar a rotina mais motivadora, leve e acessível.</a:t>
            </a:r>
          </a:p>
          <a:p>
            <a:pPr algn="l" marL="0" indent="0" lvl="0">
              <a:lnSpc>
                <a:spcPts val="5928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94771" y="1039601"/>
            <a:ext cx="7787302" cy="245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6000" spc="210">
                <a:solidFill>
                  <a:srgbClr val="65C5D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Elicitação e Especificação dos Requisitos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0637265">
            <a:off x="-3103761" y="-1348650"/>
            <a:ext cx="11651052" cy="4624101"/>
          </a:xfrm>
          <a:custGeom>
            <a:avLst/>
            <a:gdLst/>
            <a:ahLst/>
            <a:cxnLst/>
            <a:rect r="r" b="b" t="t" l="l"/>
            <a:pathLst>
              <a:path h="4624101" w="11651052">
                <a:moveTo>
                  <a:pt x="0" y="0"/>
                </a:moveTo>
                <a:lnTo>
                  <a:pt x="11651051" y="0"/>
                </a:lnTo>
                <a:lnTo>
                  <a:pt x="11651051" y="4624102"/>
                </a:lnTo>
                <a:lnTo>
                  <a:pt x="0" y="4624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3002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17973" y="4754047"/>
            <a:ext cx="1913217" cy="65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2"/>
              </a:lnSpc>
            </a:pPr>
            <a:r>
              <a:rPr lang="en-US" sz="2382" spc="83" b="true">
                <a:solidFill>
                  <a:srgbClr val="7594D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Técnica Utilizada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17973" y="6236439"/>
            <a:ext cx="2459988" cy="33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2"/>
              </a:lnSpc>
            </a:pPr>
            <a:r>
              <a:rPr lang="en-US" sz="2382" spc="83" b="true">
                <a:solidFill>
                  <a:srgbClr val="7594D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Participantes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17973" y="7811676"/>
            <a:ext cx="3312940" cy="33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2"/>
              </a:lnSpc>
            </a:pPr>
            <a:r>
              <a:rPr lang="en-US" sz="2382" spc="83" b="true">
                <a:solidFill>
                  <a:srgbClr val="7594D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Objetivo da coleta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47141" y="4378752"/>
            <a:ext cx="1053874" cy="105387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93CF">
                <a:alpha val="71765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33896" lIns="33896" bIns="33896" rIns="33896"/>
            <a:lstStyle/>
            <a:p>
              <a:pPr algn="ctr">
                <a:lnSpc>
                  <a:spcPts val="2872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47141" y="5890143"/>
            <a:ext cx="1053874" cy="105387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93CF">
                <a:alpha val="71765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33896" lIns="33896" bIns="33896" rIns="33896"/>
            <a:lstStyle/>
            <a:p>
              <a:pPr algn="ctr">
                <a:lnSpc>
                  <a:spcPts val="2872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47141" y="7436381"/>
            <a:ext cx="1053874" cy="105387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93CF">
                <a:alpha val="71765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33896" lIns="33896" bIns="33896" rIns="33896"/>
            <a:lstStyle/>
            <a:p>
              <a:pPr algn="ctr">
                <a:lnSpc>
                  <a:spcPts val="2872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85033" y="4482171"/>
            <a:ext cx="578089" cy="95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4"/>
              </a:lnSpc>
            </a:pPr>
            <a:r>
              <a:rPr lang="en-US" b="true" sz="6689" spc="234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85033" y="5993561"/>
            <a:ext cx="578089" cy="95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4"/>
              </a:lnSpc>
            </a:pPr>
            <a:r>
              <a:rPr lang="en-US" b="true" sz="6689" spc="234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85033" y="7539799"/>
            <a:ext cx="578089" cy="95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4"/>
              </a:lnSpc>
            </a:pPr>
            <a:r>
              <a:rPr lang="en-US" b="true" sz="6689" spc="234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36783" y="4772418"/>
            <a:ext cx="3368334" cy="33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2"/>
              </a:lnSpc>
            </a:pPr>
            <a:r>
              <a:rPr lang="en-US" sz="2382" spc="83" b="true">
                <a:solidFill>
                  <a:srgbClr val="7594D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Principais achados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765950" y="4397124"/>
            <a:ext cx="1053874" cy="105387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93CF">
                <a:alpha val="71765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33896" lIns="33896" bIns="33896" rIns="33896"/>
            <a:lstStyle/>
            <a:p>
              <a:pPr algn="ctr">
                <a:lnSpc>
                  <a:spcPts val="2872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003843" y="4500542"/>
            <a:ext cx="578089" cy="95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4"/>
              </a:lnSpc>
            </a:pPr>
            <a:r>
              <a:rPr lang="en-US" b="true" sz="6689" spc="234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13848745" y="4703001"/>
            <a:ext cx="2654416" cy="3153194"/>
          </a:xfrm>
          <a:custGeom>
            <a:avLst/>
            <a:gdLst/>
            <a:ahLst/>
            <a:cxnLst/>
            <a:rect r="r" b="b" t="t" l="l"/>
            <a:pathLst>
              <a:path h="3153194" w="2654416">
                <a:moveTo>
                  <a:pt x="2654416" y="0"/>
                </a:moveTo>
                <a:lnTo>
                  <a:pt x="0" y="0"/>
                </a:lnTo>
                <a:lnTo>
                  <a:pt x="0" y="3153194"/>
                </a:lnTo>
                <a:lnTo>
                  <a:pt x="2654416" y="3153194"/>
                </a:lnTo>
                <a:lnTo>
                  <a:pt x="265441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36449" y="5122520"/>
            <a:ext cx="6676296" cy="6523297"/>
          </a:xfrm>
          <a:custGeom>
            <a:avLst/>
            <a:gdLst/>
            <a:ahLst/>
            <a:cxnLst/>
            <a:rect r="r" b="b" t="t" l="l"/>
            <a:pathLst>
              <a:path h="6523297" w="6676296">
                <a:moveTo>
                  <a:pt x="0" y="0"/>
                </a:moveTo>
                <a:lnTo>
                  <a:pt x="6676295" y="0"/>
                </a:lnTo>
                <a:lnTo>
                  <a:pt x="6676295" y="6523297"/>
                </a:lnTo>
                <a:lnTo>
                  <a:pt x="0" y="65232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148167"/>
            <a:ext cx="7172214" cy="95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2"/>
              </a:lnSpc>
              <a:spcBef>
                <a:spcPct val="0"/>
              </a:spcBef>
            </a:pPr>
            <a:r>
              <a:rPr lang="en-US" b="true" sz="2400" spc="132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Dois formulários online para coleta de requisitos.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83438" y="1586432"/>
            <a:ext cx="4559978" cy="50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3570" spc="124" b="true">
                <a:solidFill>
                  <a:srgbClr val="7594D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Técnica Utilizada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1028700"/>
            <a:ext cx="1579452" cy="157945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93CF">
                <a:alpha val="7176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2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85232" y="1207593"/>
            <a:ext cx="866387" cy="1400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7"/>
              </a:lnSpc>
            </a:pPr>
            <a:r>
              <a:rPr lang="en-US" b="true" sz="10025" spc="350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84899" y="5197642"/>
            <a:ext cx="4559978" cy="50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3570" spc="124" b="true">
                <a:solidFill>
                  <a:srgbClr val="7594D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Participantes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30161" y="4639910"/>
            <a:ext cx="1579452" cy="157945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93CF">
                <a:alpha val="71765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2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86693" y="4818803"/>
            <a:ext cx="866387" cy="1400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7"/>
              </a:lnSpc>
            </a:pPr>
            <a:r>
              <a:rPr lang="en-US" b="true" sz="10025" spc="350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0161" y="6762286"/>
            <a:ext cx="11146196" cy="244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2" indent="-259081" lvl="1">
              <a:lnSpc>
                <a:spcPts val="3912"/>
              </a:lnSpc>
              <a:buFont typeface="Arial"/>
              <a:buChar char="•"/>
            </a:pPr>
            <a:r>
              <a:rPr lang="en-US" b="true" sz="2400" spc="132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50 usuários (com diagnóstico, suspeita ou sem TDAH — formulário aberto).</a:t>
            </a:r>
          </a:p>
          <a:p>
            <a:pPr algn="l">
              <a:lnSpc>
                <a:spcPts val="3912"/>
              </a:lnSpc>
            </a:pPr>
          </a:p>
          <a:p>
            <a:pPr algn="l" marL="518162" indent="-259081" lvl="1">
              <a:lnSpc>
                <a:spcPts val="3912"/>
              </a:lnSpc>
              <a:buFont typeface="Arial"/>
              <a:buChar char="•"/>
            </a:pPr>
            <a:r>
              <a:rPr lang="en-US" b="true" sz="2400" spc="132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 especialistas (2 psicólogos e 1 neuropsicólogo).</a:t>
            </a:r>
          </a:p>
          <a:p>
            <a:pPr algn="l" marL="0" indent="0" lvl="0">
              <a:lnSpc>
                <a:spcPts val="391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13848745" y="4703001"/>
            <a:ext cx="2654416" cy="3153194"/>
          </a:xfrm>
          <a:custGeom>
            <a:avLst/>
            <a:gdLst/>
            <a:ahLst/>
            <a:cxnLst/>
            <a:rect r="r" b="b" t="t" l="l"/>
            <a:pathLst>
              <a:path h="3153194" w="2654416">
                <a:moveTo>
                  <a:pt x="2654416" y="0"/>
                </a:moveTo>
                <a:lnTo>
                  <a:pt x="0" y="0"/>
                </a:lnTo>
                <a:lnTo>
                  <a:pt x="0" y="3153194"/>
                </a:lnTo>
                <a:lnTo>
                  <a:pt x="2654416" y="3153194"/>
                </a:lnTo>
                <a:lnTo>
                  <a:pt x="265441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36449" y="5122520"/>
            <a:ext cx="6676296" cy="6523297"/>
          </a:xfrm>
          <a:custGeom>
            <a:avLst/>
            <a:gdLst/>
            <a:ahLst/>
            <a:cxnLst/>
            <a:rect r="r" b="b" t="t" l="l"/>
            <a:pathLst>
              <a:path h="6523297" w="6676296">
                <a:moveTo>
                  <a:pt x="0" y="0"/>
                </a:moveTo>
                <a:lnTo>
                  <a:pt x="6676295" y="0"/>
                </a:lnTo>
                <a:lnTo>
                  <a:pt x="6676295" y="6523297"/>
                </a:lnTo>
                <a:lnTo>
                  <a:pt x="0" y="65232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458204"/>
            <a:ext cx="12298234" cy="244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2" indent="-259081" lvl="1">
              <a:lnSpc>
                <a:spcPts val="3912"/>
              </a:lnSpc>
              <a:buFont typeface="Arial"/>
              <a:buChar char="•"/>
            </a:pPr>
            <a:r>
              <a:rPr lang="en-US" b="true" sz="2400" spc="132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Identificar dificuldades reais no dia a dia (organização, foco, esquecimentos).</a:t>
            </a:r>
          </a:p>
          <a:p>
            <a:pPr algn="l">
              <a:lnSpc>
                <a:spcPts val="3912"/>
              </a:lnSpc>
            </a:pPr>
          </a:p>
          <a:p>
            <a:pPr algn="l" marL="518162" indent="-259081" lvl="1">
              <a:lnSpc>
                <a:spcPts val="3912"/>
              </a:lnSpc>
              <a:buFont typeface="Arial"/>
              <a:buChar char="•"/>
            </a:pPr>
            <a:r>
              <a:rPr lang="en-US" b="true" sz="2400" spc="132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Definir funcionalidades essenciais e validar requisitos do sistema.</a:t>
            </a:r>
          </a:p>
          <a:p>
            <a:pPr algn="l" marL="0" indent="0" lvl="0">
              <a:lnSpc>
                <a:spcPts val="3912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783438" y="1586432"/>
            <a:ext cx="4761440" cy="50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3570" spc="124" b="true">
                <a:solidFill>
                  <a:srgbClr val="7594D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Objetivo da coleta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1028700"/>
            <a:ext cx="1579452" cy="157945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93CF">
                <a:alpha val="7176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2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85232" y="1207593"/>
            <a:ext cx="866387" cy="1400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7"/>
              </a:lnSpc>
            </a:pPr>
            <a:r>
              <a:rPr lang="en-US" b="true" sz="10025" spc="350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13848745" y="4703001"/>
            <a:ext cx="2654416" cy="3153194"/>
          </a:xfrm>
          <a:custGeom>
            <a:avLst/>
            <a:gdLst/>
            <a:ahLst/>
            <a:cxnLst/>
            <a:rect r="r" b="b" t="t" l="l"/>
            <a:pathLst>
              <a:path h="3153194" w="2654416">
                <a:moveTo>
                  <a:pt x="2654416" y="0"/>
                </a:moveTo>
                <a:lnTo>
                  <a:pt x="0" y="0"/>
                </a:lnTo>
                <a:lnTo>
                  <a:pt x="0" y="3153194"/>
                </a:lnTo>
                <a:lnTo>
                  <a:pt x="2654416" y="3153194"/>
                </a:lnTo>
                <a:lnTo>
                  <a:pt x="265441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36449" y="5122520"/>
            <a:ext cx="6676296" cy="6523297"/>
          </a:xfrm>
          <a:custGeom>
            <a:avLst/>
            <a:gdLst/>
            <a:ahLst/>
            <a:cxnLst/>
            <a:rect r="r" b="b" t="t" l="l"/>
            <a:pathLst>
              <a:path h="6523297" w="6676296">
                <a:moveTo>
                  <a:pt x="0" y="0"/>
                </a:moveTo>
                <a:lnTo>
                  <a:pt x="6676295" y="0"/>
                </a:lnTo>
                <a:lnTo>
                  <a:pt x="6676295" y="6523297"/>
                </a:lnTo>
                <a:lnTo>
                  <a:pt x="0" y="65232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458204"/>
            <a:ext cx="12298234" cy="3536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2" indent="-259081" lvl="1">
              <a:lnSpc>
                <a:spcPts val="3912"/>
              </a:lnSpc>
              <a:buFont typeface="Arial"/>
              <a:buChar char="•"/>
            </a:pPr>
            <a:r>
              <a:rPr lang="en-US" b="true" sz="2400" spc="132">
                <a:solidFill>
                  <a:srgbClr val="BD93C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Usuários </a:t>
            </a:r>
            <a:r>
              <a:rPr lang="en-US" b="true" sz="2400" spc="132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apontaram necessidade de:</a:t>
            </a:r>
          </a:p>
          <a:p>
            <a:pPr algn="l">
              <a:lnSpc>
                <a:spcPts val="3912"/>
              </a:lnSpc>
            </a:pPr>
          </a:p>
          <a:p>
            <a:pPr algn="l" marL="518162" indent="-259081" lvl="1">
              <a:lnSpc>
                <a:spcPts val="5544"/>
              </a:lnSpc>
              <a:buFont typeface="Arial"/>
              <a:buChar char="•"/>
            </a:pPr>
            <a:r>
              <a:rPr lang="en-US" b="true" sz="2400" spc="132">
                <a:solidFill>
                  <a:srgbClr val="65C5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Interface simples, visual e intuitiva.</a:t>
            </a:r>
          </a:p>
          <a:p>
            <a:pPr algn="l" marL="518162" indent="-259081" lvl="1">
              <a:lnSpc>
                <a:spcPts val="5544"/>
              </a:lnSpc>
              <a:buFont typeface="Arial"/>
              <a:buChar char="•"/>
            </a:pPr>
            <a:r>
              <a:rPr lang="en-US" b="true" sz="2400" spc="132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Lembretes personalizados.</a:t>
            </a:r>
          </a:p>
          <a:p>
            <a:pPr algn="l" marL="518162" indent="-259081" lvl="1">
              <a:lnSpc>
                <a:spcPts val="5544"/>
              </a:lnSpc>
              <a:buFont typeface="Arial"/>
              <a:buChar char="•"/>
            </a:pPr>
            <a:r>
              <a:rPr lang="en-US" b="true" sz="2400" spc="132">
                <a:solidFill>
                  <a:srgbClr val="65C5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Apoio para manter rotina e foco.</a:t>
            </a:r>
          </a:p>
          <a:p>
            <a:pPr algn="l" marL="0" indent="0" lvl="0">
              <a:lnSpc>
                <a:spcPts val="3912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783438" y="1586432"/>
            <a:ext cx="5055809" cy="50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3570" spc="124" b="true">
                <a:solidFill>
                  <a:srgbClr val="7594D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Principais achados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1028700"/>
            <a:ext cx="1579452" cy="157945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93CF">
                <a:alpha val="7176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2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85232" y="1207593"/>
            <a:ext cx="866387" cy="1400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7"/>
              </a:lnSpc>
            </a:pPr>
            <a:r>
              <a:rPr lang="en-US" b="true" sz="10025" spc="350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13848745" y="4703001"/>
            <a:ext cx="2654416" cy="3153194"/>
          </a:xfrm>
          <a:custGeom>
            <a:avLst/>
            <a:gdLst/>
            <a:ahLst/>
            <a:cxnLst/>
            <a:rect r="r" b="b" t="t" l="l"/>
            <a:pathLst>
              <a:path h="3153194" w="2654416">
                <a:moveTo>
                  <a:pt x="2654416" y="0"/>
                </a:moveTo>
                <a:lnTo>
                  <a:pt x="0" y="0"/>
                </a:lnTo>
                <a:lnTo>
                  <a:pt x="0" y="3153194"/>
                </a:lnTo>
                <a:lnTo>
                  <a:pt x="2654416" y="3153194"/>
                </a:lnTo>
                <a:lnTo>
                  <a:pt x="265441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36449" y="5122520"/>
            <a:ext cx="6676296" cy="6523297"/>
          </a:xfrm>
          <a:custGeom>
            <a:avLst/>
            <a:gdLst/>
            <a:ahLst/>
            <a:cxnLst/>
            <a:rect r="r" b="b" t="t" l="l"/>
            <a:pathLst>
              <a:path h="6523297" w="6676296">
                <a:moveTo>
                  <a:pt x="0" y="0"/>
                </a:moveTo>
                <a:lnTo>
                  <a:pt x="6676295" y="0"/>
                </a:lnTo>
                <a:lnTo>
                  <a:pt x="6676295" y="6523297"/>
                </a:lnTo>
                <a:lnTo>
                  <a:pt x="0" y="65232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458204"/>
            <a:ext cx="12298234" cy="293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2"/>
              </a:lnSpc>
            </a:pPr>
            <a:r>
              <a:rPr lang="en-US" sz="2400" spc="132" b="true">
                <a:solidFill>
                  <a:srgbClr val="BD93C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Especialistas</a:t>
            </a:r>
            <a:r>
              <a:rPr lang="en-US" sz="2400" spc="132" b="true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reforçaram a importância de:</a:t>
            </a:r>
          </a:p>
          <a:p>
            <a:pPr algn="l">
              <a:lnSpc>
                <a:spcPts val="3912"/>
              </a:lnSpc>
            </a:pPr>
          </a:p>
          <a:p>
            <a:pPr algn="l" marL="518162" indent="-259081" lvl="1">
              <a:lnSpc>
                <a:spcPts val="3912"/>
              </a:lnSpc>
              <a:buFont typeface="Arial"/>
              <a:buChar char="•"/>
            </a:pPr>
            <a:r>
              <a:rPr lang="en-US" b="true" sz="2400" spc="132">
                <a:solidFill>
                  <a:srgbClr val="65C5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Design acessível, adaptado ao TDAH.</a:t>
            </a:r>
          </a:p>
          <a:p>
            <a:pPr algn="l">
              <a:lnSpc>
                <a:spcPts val="3912"/>
              </a:lnSpc>
            </a:pPr>
          </a:p>
          <a:p>
            <a:pPr algn="l" marL="518162" indent="-259081" lvl="1">
              <a:lnSpc>
                <a:spcPts val="3912"/>
              </a:lnSpc>
              <a:buFont typeface="Arial"/>
              <a:buChar char="•"/>
            </a:pPr>
            <a:r>
              <a:rPr lang="en-US" b="true" sz="2400" spc="132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Uso de gamificação e feedback visual para manter engajamento.</a:t>
            </a:r>
          </a:p>
          <a:p>
            <a:pPr algn="l" marL="0" indent="0" lvl="0">
              <a:lnSpc>
                <a:spcPts val="3912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783438" y="1586432"/>
            <a:ext cx="5055809" cy="50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3570" spc="124" b="true">
                <a:solidFill>
                  <a:srgbClr val="7594D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Principais achados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1028700"/>
            <a:ext cx="1579452" cy="157945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93CF">
                <a:alpha val="7176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2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85232" y="1207593"/>
            <a:ext cx="866387" cy="1400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7"/>
              </a:lnSpc>
            </a:pPr>
            <a:r>
              <a:rPr lang="en-US" b="true" sz="10025" spc="350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4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70276" y="2037290"/>
            <a:ext cx="6510778" cy="82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6000" spc="210">
                <a:solidFill>
                  <a:srgbClr val="65C5D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Situação Atual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795604" y="3747046"/>
            <a:ext cx="957568" cy="95756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93CF">
                <a:alpha val="7176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011758" y="3847106"/>
            <a:ext cx="525262" cy="857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4"/>
              </a:lnSpc>
            </a:pPr>
            <a:r>
              <a:rPr lang="en-US" b="true" sz="6077" spc="212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95386" y="5071197"/>
            <a:ext cx="866387" cy="1400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7"/>
              </a:lnSpc>
            </a:pPr>
            <a:r>
              <a:rPr lang="en-US" b="true" sz="10025" spc="350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395386" y="7507898"/>
            <a:ext cx="866387" cy="1400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7"/>
              </a:lnSpc>
            </a:pPr>
            <a:r>
              <a:rPr lang="en-US" b="true" sz="10025" spc="350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72255" y="3685181"/>
            <a:ext cx="9522912" cy="95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2"/>
              </a:lnSpc>
              <a:spcBef>
                <a:spcPct val="0"/>
              </a:spcBef>
            </a:pPr>
            <a:r>
              <a:rPr lang="en-US" b="true" sz="2400" spc="132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Existem apps de produtividade e foco (ex.: Todoist, Forest), mas não são específicos para TDAH.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10637265">
            <a:off x="-3103761" y="-1348650"/>
            <a:ext cx="11651052" cy="4624101"/>
          </a:xfrm>
          <a:custGeom>
            <a:avLst/>
            <a:gdLst/>
            <a:ahLst/>
            <a:cxnLst/>
            <a:rect r="r" b="b" t="t" l="l"/>
            <a:pathLst>
              <a:path h="4624101" w="11651052">
                <a:moveTo>
                  <a:pt x="0" y="0"/>
                </a:moveTo>
                <a:lnTo>
                  <a:pt x="11651051" y="0"/>
                </a:lnTo>
                <a:lnTo>
                  <a:pt x="11651051" y="4624102"/>
                </a:lnTo>
                <a:lnTo>
                  <a:pt x="0" y="4624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30022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795604" y="5233070"/>
            <a:ext cx="957568" cy="95756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93CF">
                <a:alpha val="71765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2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011758" y="5333131"/>
            <a:ext cx="525262" cy="857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4"/>
              </a:lnSpc>
            </a:pPr>
            <a:r>
              <a:rPr lang="en-US" b="true" sz="6077" spc="212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72255" y="5171206"/>
            <a:ext cx="9522912" cy="95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2"/>
              </a:lnSpc>
              <a:spcBef>
                <a:spcPct val="0"/>
              </a:spcBef>
            </a:pPr>
            <a:r>
              <a:rPr lang="en-US" b="true" sz="2400" spc="132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Falta personalização e acompanhamento contínuo do usuário.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795604" y="6714513"/>
            <a:ext cx="957568" cy="95756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93CF">
                <a:alpha val="71765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2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023905" y="6814574"/>
            <a:ext cx="500967" cy="857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4"/>
              </a:lnSpc>
            </a:pPr>
            <a:r>
              <a:rPr lang="en-US" b="true" sz="6077" spc="212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72255" y="6652649"/>
            <a:ext cx="9522912" cy="95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2"/>
              </a:lnSpc>
              <a:spcBef>
                <a:spcPct val="0"/>
              </a:spcBef>
            </a:pPr>
            <a:r>
              <a:rPr lang="en-US" b="true" sz="2400" spc="132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Testes oficiais dependem de profissionais e não servem para triagens rápidas.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795604" y="8300732"/>
            <a:ext cx="957568" cy="95756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93CF">
                <a:alpha val="71765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2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011758" y="8400792"/>
            <a:ext cx="525262" cy="857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4"/>
              </a:lnSpc>
            </a:pPr>
            <a:r>
              <a:rPr lang="en-US" b="true" sz="6077" spc="212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72255" y="8238867"/>
            <a:ext cx="9522912" cy="95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2"/>
              </a:lnSpc>
              <a:spcBef>
                <a:spcPct val="0"/>
              </a:spcBef>
            </a:pPr>
            <a:r>
              <a:rPr lang="en-US" b="true" sz="2400" spc="132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Nenhuma solução atual oferece um sistema integrado para usuários e especialistas.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10881034" y="7645463"/>
            <a:ext cx="2860802" cy="2860802"/>
          </a:xfrm>
          <a:custGeom>
            <a:avLst/>
            <a:gdLst/>
            <a:ahLst/>
            <a:cxnLst/>
            <a:rect r="r" b="b" t="t" l="l"/>
            <a:pathLst>
              <a:path h="2860802" w="2860802">
                <a:moveTo>
                  <a:pt x="2860802" y="0"/>
                </a:moveTo>
                <a:lnTo>
                  <a:pt x="0" y="0"/>
                </a:lnTo>
                <a:lnTo>
                  <a:pt x="0" y="2860802"/>
                </a:lnTo>
                <a:lnTo>
                  <a:pt x="2860802" y="2860802"/>
                </a:lnTo>
                <a:lnTo>
                  <a:pt x="2860802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3741836" y="5140189"/>
            <a:ext cx="2505275" cy="2505275"/>
          </a:xfrm>
          <a:custGeom>
            <a:avLst/>
            <a:gdLst/>
            <a:ahLst/>
            <a:cxnLst/>
            <a:rect r="r" b="b" t="t" l="l"/>
            <a:pathLst>
              <a:path h="2505275" w="2505275">
                <a:moveTo>
                  <a:pt x="2505275" y="0"/>
                </a:moveTo>
                <a:lnTo>
                  <a:pt x="0" y="0"/>
                </a:lnTo>
                <a:lnTo>
                  <a:pt x="0" y="2505274"/>
                </a:lnTo>
                <a:lnTo>
                  <a:pt x="2505275" y="2505274"/>
                </a:lnTo>
                <a:lnTo>
                  <a:pt x="2505275" y="0"/>
                </a:lnTo>
                <a:close/>
              </a:path>
            </a:pathLst>
          </a:custGeom>
          <a:blipFill>
            <a:blip r:embed="rId4">
              <a:alphaModFix amt="6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71786" y="1289593"/>
            <a:ext cx="15615194" cy="82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6000" spc="210">
                <a:solidFill>
                  <a:srgbClr val="BD93C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Conceitos Envolvidos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71786" y="2714683"/>
            <a:ext cx="9834026" cy="422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8"/>
              </a:lnSpc>
            </a:pPr>
            <a:r>
              <a:rPr lang="en-US" sz="2600" spc="143" b="true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1) TDAH e Neurodiversidade: </a:t>
            </a:r>
            <a:r>
              <a:rPr lang="en-US" sz="2600" spc="143">
                <a:solidFill>
                  <a:srgbClr val="7594D3"/>
                </a:solidFill>
                <a:latin typeface="Montserrat"/>
                <a:ea typeface="Montserrat"/>
                <a:cs typeface="Montserrat"/>
                <a:sym typeface="Montserrat"/>
              </a:rPr>
              <a:t>compreensão das dificuldades de atenção, organização e memória, guiando um design acessível e inclusivo.</a:t>
            </a:r>
          </a:p>
          <a:p>
            <a:pPr algn="l">
              <a:lnSpc>
                <a:spcPts val="4238"/>
              </a:lnSpc>
            </a:pPr>
          </a:p>
          <a:p>
            <a:pPr algn="l">
              <a:lnSpc>
                <a:spcPts val="4238"/>
              </a:lnSpc>
            </a:pPr>
            <a:r>
              <a:rPr lang="en-US" sz="2600" spc="143" b="true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2)</a:t>
            </a:r>
            <a:r>
              <a:rPr lang="en-US" sz="2600" spc="143" b="true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Gamificação: </a:t>
            </a:r>
            <a:r>
              <a:rPr lang="en-US" sz="2600" spc="143">
                <a:solidFill>
                  <a:srgbClr val="7594D3"/>
                </a:solidFill>
                <a:latin typeface="Montserrat"/>
                <a:ea typeface="Montserrat"/>
                <a:cs typeface="Montserrat"/>
                <a:sym typeface="Montserrat"/>
              </a:rPr>
              <a:t>uso de pontos, níveis e conquistas para aumentar engajamento e incentivar hábitos consistentes.</a:t>
            </a:r>
          </a:p>
          <a:p>
            <a:pPr algn="l" marL="0" indent="0" lvl="0">
              <a:lnSpc>
                <a:spcPts val="4238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0714039" y="4733394"/>
            <a:ext cx="7065009" cy="6468619"/>
            <a:chOff x="0" y="0"/>
            <a:chExt cx="1740663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40663" cy="1593725"/>
            </a:xfrm>
            <a:custGeom>
              <a:avLst/>
              <a:gdLst/>
              <a:ahLst/>
              <a:cxnLst/>
              <a:rect r="r" b="b" t="t" l="l"/>
              <a:pathLst>
                <a:path h="1593725" w="1740663">
                  <a:moveTo>
                    <a:pt x="60270" y="0"/>
                  </a:moveTo>
                  <a:lnTo>
                    <a:pt x="1680393" y="0"/>
                  </a:lnTo>
                  <a:cubicBezTo>
                    <a:pt x="1713679" y="0"/>
                    <a:pt x="1740663" y="26984"/>
                    <a:pt x="1740663" y="60270"/>
                  </a:cubicBezTo>
                  <a:lnTo>
                    <a:pt x="1740663" y="1533456"/>
                  </a:lnTo>
                  <a:cubicBezTo>
                    <a:pt x="1740663" y="1549440"/>
                    <a:pt x="1734313" y="1564770"/>
                    <a:pt x="1723010" y="1576073"/>
                  </a:cubicBezTo>
                  <a:cubicBezTo>
                    <a:pt x="1711708" y="1587376"/>
                    <a:pt x="1696378" y="1593725"/>
                    <a:pt x="1680393" y="1593725"/>
                  </a:cubicBezTo>
                  <a:lnTo>
                    <a:pt x="60270" y="1593725"/>
                  </a:lnTo>
                  <a:cubicBezTo>
                    <a:pt x="26984" y="1593725"/>
                    <a:pt x="0" y="1566742"/>
                    <a:pt x="0" y="1533456"/>
                  </a:cubicBezTo>
                  <a:lnTo>
                    <a:pt x="0" y="60270"/>
                  </a:lnTo>
                  <a:cubicBezTo>
                    <a:pt x="0" y="26984"/>
                    <a:pt x="26984" y="0"/>
                    <a:pt x="60270" y="0"/>
                  </a:cubicBezTo>
                  <a:close/>
                </a:path>
              </a:pathLst>
            </a:custGeom>
            <a:blipFill>
              <a:blip r:embed="rId6"/>
              <a:stretch>
                <a:fillRect l="-26939" t="0" r="-26939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10881034" y="7645463"/>
            <a:ext cx="2860802" cy="2860802"/>
          </a:xfrm>
          <a:custGeom>
            <a:avLst/>
            <a:gdLst/>
            <a:ahLst/>
            <a:cxnLst/>
            <a:rect r="r" b="b" t="t" l="l"/>
            <a:pathLst>
              <a:path h="2860802" w="2860802">
                <a:moveTo>
                  <a:pt x="2860802" y="0"/>
                </a:moveTo>
                <a:lnTo>
                  <a:pt x="0" y="0"/>
                </a:lnTo>
                <a:lnTo>
                  <a:pt x="0" y="2860802"/>
                </a:lnTo>
                <a:lnTo>
                  <a:pt x="2860802" y="2860802"/>
                </a:lnTo>
                <a:lnTo>
                  <a:pt x="2860802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3741836" y="5140189"/>
            <a:ext cx="2505275" cy="2505275"/>
          </a:xfrm>
          <a:custGeom>
            <a:avLst/>
            <a:gdLst/>
            <a:ahLst/>
            <a:cxnLst/>
            <a:rect r="r" b="b" t="t" l="l"/>
            <a:pathLst>
              <a:path h="2505275" w="2505275">
                <a:moveTo>
                  <a:pt x="2505275" y="0"/>
                </a:moveTo>
                <a:lnTo>
                  <a:pt x="0" y="0"/>
                </a:lnTo>
                <a:lnTo>
                  <a:pt x="0" y="2505274"/>
                </a:lnTo>
                <a:lnTo>
                  <a:pt x="2505275" y="2505274"/>
                </a:lnTo>
                <a:lnTo>
                  <a:pt x="2505275" y="0"/>
                </a:lnTo>
                <a:close/>
              </a:path>
            </a:pathLst>
          </a:custGeom>
          <a:blipFill>
            <a:blip r:embed="rId4">
              <a:alphaModFix amt="6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71786" y="1289593"/>
            <a:ext cx="15481305" cy="82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6000" spc="210">
                <a:solidFill>
                  <a:srgbClr val="BD93C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Conceitos Envolvidos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71786" y="2699249"/>
            <a:ext cx="9075324" cy="5829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4238"/>
              </a:lnSpc>
              <a:buFont typeface="Arial"/>
              <a:buChar char="•"/>
            </a:pPr>
            <a:r>
              <a:rPr lang="en-US" b="true" sz="2600" spc="143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UX/UI Adaptada:</a:t>
            </a:r>
            <a:r>
              <a:rPr lang="en-US" sz="2600" spc="143">
                <a:solidFill>
                  <a:srgbClr val="7594D3"/>
                </a:solidFill>
                <a:latin typeface="Montserrat"/>
                <a:ea typeface="Montserrat"/>
                <a:cs typeface="Montserrat"/>
                <a:sym typeface="Montserrat"/>
              </a:rPr>
              <a:t> interface clara, com elementos visuais que facilitem foco e usabilidade.</a:t>
            </a:r>
          </a:p>
          <a:p>
            <a:pPr algn="l">
              <a:lnSpc>
                <a:spcPts val="4238"/>
              </a:lnSpc>
            </a:pPr>
          </a:p>
          <a:p>
            <a:pPr algn="l" marL="561341" indent="-280670" lvl="1">
              <a:lnSpc>
                <a:spcPts val="4238"/>
              </a:lnSpc>
              <a:buFont typeface="Arial"/>
              <a:buChar char="•"/>
            </a:pPr>
            <a:r>
              <a:rPr lang="en-US" b="true" sz="2600" spc="143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Gerenciamento de Tempo:</a:t>
            </a:r>
            <a:r>
              <a:rPr lang="en-US" sz="2600" spc="143">
                <a:solidFill>
                  <a:srgbClr val="7594D3"/>
                </a:solidFill>
                <a:latin typeface="Montserrat"/>
                <a:ea typeface="Montserrat"/>
                <a:cs typeface="Montserrat"/>
                <a:sym typeface="Montserrat"/>
              </a:rPr>
              <a:t> listas de tarefas, checklists e Pomodoro adaptado.</a:t>
            </a:r>
          </a:p>
          <a:p>
            <a:pPr algn="l">
              <a:lnSpc>
                <a:spcPts val="4238"/>
              </a:lnSpc>
            </a:pPr>
          </a:p>
          <a:p>
            <a:pPr algn="l" marL="561341" indent="-280670" lvl="1">
              <a:lnSpc>
                <a:spcPts val="4238"/>
              </a:lnSpc>
              <a:buFont typeface="Arial"/>
              <a:buChar char="•"/>
            </a:pPr>
            <a:r>
              <a:rPr lang="en-US" b="true" sz="2600" spc="143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Computação em Nuvem: </a:t>
            </a:r>
            <a:r>
              <a:rPr lang="en-US" sz="2600" spc="143">
                <a:solidFill>
                  <a:srgbClr val="7594D3"/>
                </a:solidFill>
                <a:latin typeface="Montserrat"/>
                <a:ea typeface="Montserrat"/>
                <a:cs typeface="Montserrat"/>
                <a:sym typeface="Montserrat"/>
              </a:rPr>
              <a:t>armazenamento seguro, sincronização e acessibilidade entre dispositivos.</a:t>
            </a:r>
          </a:p>
          <a:p>
            <a:pPr algn="l" marL="0" indent="0" lvl="0">
              <a:lnSpc>
                <a:spcPts val="4238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0714039" y="4733394"/>
            <a:ext cx="7065009" cy="6468619"/>
            <a:chOff x="0" y="0"/>
            <a:chExt cx="1740663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40663" cy="1593725"/>
            </a:xfrm>
            <a:custGeom>
              <a:avLst/>
              <a:gdLst/>
              <a:ahLst/>
              <a:cxnLst/>
              <a:rect r="r" b="b" t="t" l="l"/>
              <a:pathLst>
                <a:path h="1593725" w="1740663">
                  <a:moveTo>
                    <a:pt x="60270" y="0"/>
                  </a:moveTo>
                  <a:lnTo>
                    <a:pt x="1680393" y="0"/>
                  </a:lnTo>
                  <a:cubicBezTo>
                    <a:pt x="1713679" y="0"/>
                    <a:pt x="1740663" y="26984"/>
                    <a:pt x="1740663" y="60270"/>
                  </a:cubicBezTo>
                  <a:lnTo>
                    <a:pt x="1740663" y="1533456"/>
                  </a:lnTo>
                  <a:cubicBezTo>
                    <a:pt x="1740663" y="1549440"/>
                    <a:pt x="1734313" y="1564770"/>
                    <a:pt x="1723010" y="1576073"/>
                  </a:cubicBezTo>
                  <a:cubicBezTo>
                    <a:pt x="1711708" y="1587376"/>
                    <a:pt x="1696378" y="1593725"/>
                    <a:pt x="1680393" y="1593725"/>
                  </a:cubicBezTo>
                  <a:lnTo>
                    <a:pt x="60270" y="1593725"/>
                  </a:lnTo>
                  <a:cubicBezTo>
                    <a:pt x="26984" y="1593725"/>
                    <a:pt x="0" y="1566742"/>
                    <a:pt x="0" y="1533456"/>
                  </a:cubicBezTo>
                  <a:lnTo>
                    <a:pt x="0" y="60270"/>
                  </a:lnTo>
                  <a:cubicBezTo>
                    <a:pt x="0" y="26984"/>
                    <a:pt x="26984" y="0"/>
                    <a:pt x="60270" y="0"/>
                  </a:cubicBezTo>
                  <a:close/>
                </a:path>
              </a:pathLst>
            </a:custGeom>
            <a:blipFill>
              <a:blip r:embed="rId6"/>
              <a:stretch>
                <a:fillRect l="-26939" t="0" r="-26939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10881034" y="7645463"/>
            <a:ext cx="2860802" cy="2860802"/>
          </a:xfrm>
          <a:custGeom>
            <a:avLst/>
            <a:gdLst/>
            <a:ahLst/>
            <a:cxnLst/>
            <a:rect r="r" b="b" t="t" l="l"/>
            <a:pathLst>
              <a:path h="2860802" w="2860802">
                <a:moveTo>
                  <a:pt x="2860802" y="0"/>
                </a:moveTo>
                <a:lnTo>
                  <a:pt x="0" y="0"/>
                </a:lnTo>
                <a:lnTo>
                  <a:pt x="0" y="2860802"/>
                </a:lnTo>
                <a:lnTo>
                  <a:pt x="2860802" y="2860802"/>
                </a:lnTo>
                <a:lnTo>
                  <a:pt x="2860802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3741836" y="5140189"/>
            <a:ext cx="2505275" cy="2505275"/>
          </a:xfrm>
          <a:custGeom>
            <a:avLst/>
            <a:gdLst/>
            <a:ahLst/>
            <a:cxnLst/>
            <a:rect r="r" b="b" t="t" l="l"/>
            <a:pathLst>
              <a:path h="2505275" w="2505275">
                <a:moveTo>
                  <a:pt x="2505275" y="0"/>
                </a:moveTo>
                <a:lnTo>
                  <a:pt x="0" y="0"/>
                </a:lnTo>
                <a:lnTo>
                  <a:pt x="0" y="2505274"/>
                </a:lnTo>
                <a:lnTo>
                  <a:pt x="2505275" y="2505274"/>
                </a:lnTo>
                <a:lnTo>
                  <a:pt x="2505275" y="0"/>
                </a:lnTo>
                <a:close/>
              </a:path>
            </a:pathLst>
          </a:custGeom>
          <a:blipFill>
            <a:blip r:embed="rId4">
              <a:alphaModFix amt="6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71786" y="1289593"/>
            <a:ext cx="15481305" cy="82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6000" spc="210">
                <a:solidFill>
                  <a:srgbClr val="BD93C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Tecnologias Envolvidas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71786" y="2699249"/>
            <a:ext cx="9075324" cy="5830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4238"/>
              </a:lnSpc>
              <a:buFont typeface="Arial"/>
              <a:buChar char="•"/>
            </a:pPr>
            <a:r>
              <a:rPr lang="en-US" b="true" sz="2600" spc="143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 (App Mobile): </a:t>
            </a:r>
            <a:r>
              <a:rPr lang="en-US" sz="2600" spc="143">
                <a:solidFill>
                  <a:srgbClr val="7594D3"/>
                </a:solidFill>
                <a:latin typeface="Montserrat"/>
                <a:ea typeface="Montserrat"/>
                <a:cs typeface="Montserrat"/>
                <a:sym typeface="Montserrat"/>
              </a:rPr>
              <a:t>React Native.</a:t>
            </a:r>
          </a:p>
          <a:p>
            <a:pPr algn="l">
              <a:lnSpc>
                <a:spcPts val="4238"/>
              </a:lnSpc>
            </a:pPr>
          </a:p>
          <a:p>
            <a:pPr algn="l" marL="561341" indent="-280670" lvl="1">
              <a:lnSpc>
                <a:spcPts val="4238"/>
              </a:lnSpc>
              <a:buFont typeface="Arial"/>
              <a:buChar char="•"/>
            </a:pPr>
            <a:r>
              <a:rPr lang="en-US" b="true" sz="2600" spc="143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 (API): </a:t>
            </a:r>
            <a:r>
              <a:rPr lang="en-US" sz="2600" spc="143">
                <a:solidFill>
                  <a:srgbClr val="7594D3"/>
                </a:solidFill>
                <a:latin typeface="Montserrat"/>
                <a:ea typeface="Montserrat"/>
                <a:cs typeface="Montserrat"/>
                <a:sym typeface="Montserrat"/>
              </a:rPr>
              <a:t>Node.js + Express ou Django (Python).</a:t>
            </a:r>
          </a:p>
          <a:p>
            <a:pPr algn="l">
              <a:lnSpc>
                <a:spcPts val="4238"/>
              </a:lnSpc>
            </a:pPr>
          </a:p>
          <a:p>
            <a:pPr algn="l" marL="561341" indent="-280670" lvl="1">
              <a:lnSpc>
                <a:spcPts val="4238"/>
              </a:lnSpc>
              <a:buFont typeface="Arial"/>
              <a:buChar char="•"/>
            </a:pPr>
            <a:r>
              <a:rPr lang="en-US" b="true" sz="2600" spc="143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Banco de Dados: </a:t>
            </a:r>
            <a:r>
              <a:rPr lang="en-US" sz="2600" spc="143">
                <a:solidFill>
                  <a:srgbClr val="7594D3"/>
                </a:solidFill>
                <a:latin typeface="Montserrat"/>
                <a:ea typeface="Montserrat"/>
                <a:cs typeface="Montserrat"/>
                <a:sym typeface="Montserrat"/>
              </a:rPr>
              <a:t>Firebase Firestore ou PostgreSQL.</a:t>
            </a:r>
          </a:p>
          <a:p>
            <a:pPr algn="l">
              <a:lnSpc>
                <a:spcPts val="4238"/>
              </a:lnSpc>
            </a:pPr>
          </a:p>
          <a:p>
            <a:pPr algn="l" marL="561341" indent="-280670" lvl="1">
              <a:lnSpc>
                <a:spcPts val="4238"/>
              </a:lnSpc>
              <a:buFont typeface="Arial"/>
              <a:buChar char="•"/>
            </a:pPr>
            <a:r>
              <a:rPr lang="en-US" b="true" sz="2600" spc="143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Autenticação: Firebase Authentication ou JWT.</a:t>
            </a:r>
          </a:p>
          <a:p>
            <a:pPr algn="l" marL="0" indent="0" lvl="0">
              <a:lnSpc>
                <a:spcPts val="4238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0714039" y="4733394"/>
            <a:ext cx="7065009" cy="6468619"/>
            <a:chOff x="0" y="0"/>
            <a:chExt cx="1740663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40663" cy="1593725"/>
            </a:xfrm>
            <a:custGeom>
              <a:avLst/>
              <a:gdLst/>
              <a:ahLst/>
              <a:cxnLst/>
              <a:rect r="r" b="b" t="t" l="l"/>
              <a:pathLst>
                <a:path h="1593725" w="1740663">
                  <a:moveTo>
                    <a:pt x="60270" y="0"/>
                  </a:moveTo>
                  <a:lnTo>
                    <a:pt x="1680393" y="0"/>
                  </a:lnTo>
                  <a:cubicBezTo>
                    <a:pt x="1713679" y="0"/>
                    <a:pt x="1740663" y="26984"/>
                    <a:pt x="1740663" y="60270"/>
                  </a:cubicBezTo>
                  <a:lnTo>
                    <a:pt x="1740663" y="1533456"/>
                  </a:lnTo>
                  <a:cubicBezTo>
                    <a:pt x="1740663" y="1549440"/>
                    <a:pt x="1734313" y="1564770"/>
                    <a:pt x="1723010" y="1576073"/>
                  </a:cubicBezTo>
                  <a:cubicBezTo>
                    <a:pt x="1711708" y="1587376"/>
                    <a:pt x="1696378" y="1593725"/>
                    <a:pt x="1680393" y="1593725"/>
                  </a:cubicBezTo>
                  <a:lnTo>
                    <a:pt x="60270" y="1593725"/>
                  </a:lnTo>
                  <a:cubicBezTo>
                    <a:pt x="26984" y="1593725"/>
                    <a:pt x="0" y="1566742"/>
                    <a:pt x="0" y="1533456"/>
                  </a:cubicBezTo>
                  <a:lnTo>
                    <a:pt x="0" y="60270"/>
                  </a:lnTo>
                  <a:cubicBezTo>
                    <a:pt x="0" y="26984"/>
                    <a:pt x="26984" y="0"/>
                    <a:pt x="60270" y="0"/>
                  </a:cubicBezTo>
                  <a:close/>
                </a:path>
              </a:pathLst>
            </a:custGeom>
            <a:blipFill>
              <a:blip r:embed="rId6"/>
              <a:stretch>
                <a:fillRect l="-26939" t="0" r="-26939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10881034" y="7645463"/>
            <a:ext cx="2860802" cy="2860802"/>
          </a:xfrm>
          <a:custGeom>
            <a:avLst/>
            <a:gdLst/>
            <a:ahLst/>
            <a:cxnLst/>
            <a:rect r="r" b="b" t="t" l="l"/>
            <a:pathLst>
              <a:path h="2860802" w="2860802">
                <a:moveTo>
                  <a:pt x="2860802" y="0"/>
                </a:moveTo>
                <a:lnTo>
                  <a:pt x="0" y="0"/>
                </a:lnTo>
                <a:lnTo>
                  <a:pt x="0" y="2860802"/>
                </a:lnTo>
                <a:lnTo>
                  <a:pt x="2860802" y="2860802"/>
                </a:lnTo>
                <a:lnTo>
                  <a:pt x="2860802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3741836" y="5140189"/>
            <a:ext cx="2505275" cy="2505275"/>
          </a:xfrm>
          <a:custGeom>
            <a:avLst/>
            <a:gdLst/>
            <a:ahLst/>
            <a:cxnLst/>
            <a:rect r="r" b="b" t="t" l="l"/>
            <a:pathLst>
              <a:path h="2505275" w="2505275">
                <a:moveTo>
                  <a:pt x="2505275" y="0"/>
                </a:moveTo>
                <a:lnTo>
                  <a:pt x="0" y="0"/>
                </a:lnTo>
                <a:lnTo>
                  <a:pt x="0" y="2505274"/>
                </a:lnTo>
                <a:lnTo>
                  <a:pt x="2505275" y="2505274"/>
                </a:lnTo>
                <a:lnTo>
                  <a:pt x="2505275" y="0"/>
                </a:lnTo>
                <a:close/>
              </a:path>
            </a:pathLst>
          </a:custGeom>
          <a:blipFill>
            <a:blip r:embed="rId4">
              <a:alphaModFix amt="6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71786" y="1289593"/>
            <a:ext cx="15481305" cy="82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6000" spc="210">
                <a:solidFill>
                  <a:srgbClr val="BD93C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Tecnologias Envolvidas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71786" y="2699249"/>
            <a:ext cx="9075324" cy="4763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8"/>
              </a:lnSpc>
            </a:pPr>
          </a:p>
          <a:p>
            <a:pPr algn="l" marL="561341" indent="-280670" lvl="1">
              <a:lnSpc>
                <a:spcPts val="4238"/>
              </a:lnSpc>
              <a:buFont typeface="Arial"/>
              <a:buChar char="•"/>
            </a:pPr>
            <a:r>
              <a:rPr lang="en-US" b="true" sz="2600" spc="143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Notificações Push: </a:t>
            </a:r>
            <a:r>
              <a:rPr lang="en-US" sz="2600" spc="143">
                <a:solidFill>
                  <a:srgbClr val="7594D3"/>
                </a:solidFill>
                <a:latin typeface="Montserrat"/>
                <a:ea typeface="Montserrat"/>
                <a:cs typeface="Montserrat"/>
                <a:sym typeface="Montserrat"/>
              </a:rPr>
              <a:t>Firebase Cloud Messaging (FCM) ou OneSignal.</a:t>
            </a:r>
          </a:p>
          <a:p>
            <a:pPr algn="l">
              <a:lnSpc>
                <a:spcPts val="4238"/>
              </a:lnSpc>
            </a:pPr>
          </a:p>
          <a:p>
            <a:pPr algn="l" marL="561341" indent="-280670" lvl="1">
              <a:lnSpc>
                <a:spcPts val="4238"/>
              </a:lnSpc>
              <a:buFont typeface="Arial"/>
              <a:buChar char="•"/>
            </a:pPr>
            <a:r>
              <a:rPr lang="en-US" b="true" sz="2600" spc="143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Infraestrutura: </a:t>
            </a:r>
            <a:r>
              <a:rPr lang="en-US" sz="2600" spc="143">
                <a:solidFill>
                  <a:srgbClr val="7594D3"/>
                </a:solidFill>
                <a:latin typeface="Montserrat"/>
                <a:ea typeface="Montserrat"/>
                <a:cs typeface="Montserrat"/>
                <a:sym typeface="Montserrat"/>
              </a:rPr>
              <a:t>Firebase Hosting, AWS ou Google Cloud.</a:t>
            </a:r>
          </a:p>
          <a:p>
            <a:pPr algn="l" marL="561341" indent="-280670" lvl="1">
              <a:lnSpc>
                <a:spcPts val="4238"/>
              </a:lnSpc>
              <a:buFont typeface="Arial"/>
              <a:buChar char="•"/>
            </a:pPr>
          </a:p>
          <a:p>
            <a:pPr algn="l" marL="561341" indent="-280670" lvl="1">
              <a:lnSpc>
                <a:spcPts val="4238"/>
              </a:lnSpc>
              <a:buFont typeface="Arial"/>
              <a:buChar char="•"/>
            </a:pPr>
            <a:r>
              <a:rPr lang="en-US" b="true" sz="2600" spc="143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Design e Protótipo:</a:t>
            </a:r>
            <a:r>
              <a:rPr lang="en-US" sz="2600" spc="143">
                <a:solidFill>
                  <a:srgbClr val="7594D3"/>
                </a:solidFill>
                <a:latin typeface="Montserrat"/>
                <a:ea typeface="Montserrat"/>
                <a:cs typeface="Montserrat"/>
                <a:sym typeface="Montserrat"/>
              </a:rPr>
              <a:t> Figma.</a:t>
            </a:r>
          </a:p>
          <a:p>
            <a:pPr algn="l" marL="0" indent="0" lvl="0">
              <a:lnSpc>
                <a:spcPts val="4238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0714039" y="4733394"/>
            <a:ext cx="7065009" cy="6468619"/>
            <a:chOff x="0" y="0"/>
            <a:chExt cx="1740663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40663" cy="1593725"/>
            </a:xfrm>
            <a:custGeom>
              <a:avLst/>
              <a:gdLst/>
              <a:ahLst/>
              <a:cxnLst/>
              <a:rect r="r" b="b" t="t" l="l"/>
              <a:pathLst>
                <a:path h="1593725" w="1740663">
                  <a:moveTo>
                    <a:pt x="60270" y="0"/>
                  </a:moveTo>
                  <a:lnTo>
                    <a:pt x="1680393" y="0"/>
                  </a:lnTo>
                  <a:cubicBezTo>
                    <a:pt x="1713679" y="0"/>
                    <a:pt x="1740663" y="26984"/>
                    <a:pt x="1740663" y="60270"/>
                  </a:cubicBezTo>
                  <a:lnTo>
                    <a:pt x="1740663" y="1533456"/>
                  </a:lnTo>
                  <a:cubicBezTo>
                    <a:pt x="1740663" y="1549440"/>
                    <a:pt x="1734313" y="1564770"/>
                    <a:pt x="1723010" y="1576073"/>
                  </a:cubicBezTo>
                  <a:cubicBezTo>
                    <a:pt x="1711708" y="1587376"/>
                    <a:pt x="1696378" y="1593725"/>
                    <a:pt x="1680393" y="1593725"/>
                  </a:cubicBezTo>
                  <a:lnTo>
                    <a:pt x="60270" y="1593725"/>
                  </a:lnTo>
                  <a:cubicBezTo>
                    <a:pt x="26984" y="1593725"/>
                    <a:pt x="0" y="1566742"/>
                    <a:pt x="0" y="1533456"/>
                  </a:cubicBezTo>
                  <a:lnTo>
                    <a:pt x="0" y="60270"/>
                  </a:lnTo>
                  <a:cubicBezTo>
                    <a:pt x="0" y="26984"/>
                    <a:pt x="26984" y="0"/>
                    <a:pt x="60270" y="0"/>
                  </a:cubicBezTo>
                  <a:close/>
                </a:path>
              </a:pathLst>
            </a:custGeom>
            <a:blipFill>
              <a:blip r:embed="rId6"/>
              <a:stretch>
                <a:fillRect l="-26939" t="0" r="-26939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-1654338" y="1365286"/>
            <a:ext cx="2860802" cy="2860802"/>
          </a:xfrm>
          <a:custGeom>
            <a:avLst/>
            <a:gdLst/>
            <a:ahLst/>
            <a:cxnLst/>
            <a:rect r="r" b="b" t="t" l="l"/>
            <a:pathLst>
              <a:path h="2860802" w="2860802">
                <a:moveTo>
                  <a:pt x="2860802" y="0"/>
                </a:moveTo>
                <a:lnTo>
                  <a:pt x="0" y="0"/>
                </a:lnTo>
                <a:lnTo>
                  <a:pt x="0" y="2860802"/>
                </a:lnTo>
                <a:lnTo>
                  <a:pt x="2860802" y="2860802"/>
                </a:lnTo>
                <a:lnTo>
                  <a:pt x="2860802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206464" y="-1139988"/>
            <a:ext cx="2505275" cy="2505275"/>
          </a:xfrm>
          <a:custGeom>
            <a:avLst/>
            <a:gdLst/>
            <a:ahLst/>
            <a:cxnLst/>
            <a:rect r="r" b="b" t="t" l="l"/>
            <a:pathLst>
              <a:path h="2505275" w="2505275">
                <a:moveTo>
                  <a:pt x="2505274" y="0"/>
                </a:moveTo>
                <a:lnTo>
                  <a:pt x="0" y="0"/>
                </a:lnTo>
                <a:lnTo>
                  <a:pt x="0" y="2505274"/>
                </a:lnTo>
                <a:lnTo>
                  <a:pt x="2505274" y="2505274"/>
                </a:lnTo>
                <a:lnTo>
                  <a:pt x="2505274" y="0"/>
                </a:lnTo>
                <a:close/>
              </a:path>
            </a:pathLst>
          </a:custGeom>
          <a:blipFill>
            <a:blip r:embed="rId4">
              <a:alphaModFix amt="6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4" id="4"/>
          <p:cNvGraphicFramePr/>
          <p:nvPr/>
        </p:nvGraphicFramePr>
        <p:xfrm>
          <a:off x="2459101" y="1714510"/>
          <a:ext cx="17402175" cy="7543800"/>
        </p:xfrm>
        <a:graphic>
          <a:graphicData uri="http://schemas.openxmlformats.org/presentationml/2006/ole">
            <p:oleObj imgW="20878800" imgH="110109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4296093" y="431185"/>
            <a:ext cx="9509444" cy="82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6000" spc="210">
                <a:solidFill>
                  <a:srgbClr val="65C5D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Requisitos Funcionais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-1654338" y="1365286"/>
            <a:ext cx="2860802" cy="2860802"/>
          </a:xfrm>
          <a:custGeom>
            <a:avLst/>
            <a:gdLst/>
            <a:ahLst/>
            <a:cxnLst/>
            <a:rect r="r" b="b" t="t" l="l"/>
            <a:pathLst>
              <a:path h="2860802" w="2860802">
                <a:moveTo>
                  <a:pt x="2860802" y="0"/>
                </a:moveTo>
                <a:lnTo>
                  <a:pt x="0" y="0"/>
                </a:lnTo>
                <a:lnTo>
                  <a:pt x="0" y="2860802"/>
                </a:lnTo>
                <a:lnTo>
                  <a:pt x="2860802" y="2860802"/>
                </a:lnTo>
                <a:lnTo>
                  <a:pt x="2860802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206464" y="-1139988"/>
            <a:ext cx="2505275" cy="2505275"/>
          </a:xfrm>
          <a:custGeom>
            <a:avLst/>
            <a:gdLst/>
            <a:ahLst/>
            <a:cxnLst/>
            <a:rect r="r" b="b" t="t" l="l"/>
            <a:pathLst>
              <a:path h="2505275" w="2505275">
                <a:moveTo>
                  <a:pt x="2505274" y="0"/>
                </a:moveTo>
                <a:lnTo>
                  <a:pt x="0" y="0"/>
                </a:lnTo>
                <a:lnTo>
                  <a:pt x="0" y="2505274"/>
                </a:lnTo>
                <a:lnTo>
                  <a:pt x="2505274" y="2505274"/>
                </a:lnTo>
                <a:lnTo>
                  <a:pt x="2505274" y="0"/>
                </a:lnTo>
                <a:close/>
              </a:path>
            </a:pathLst>
          </a:custGeom>
          <a:blipFill>
            <a:blip r:embed="rId4">
              <a:alphaModFix amt="6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89278" y="431185"/>
            <a:ext cx="11448732" cy="82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6000" spc="210">
                <a:solidFill>
                  <a:srgbClr val="65C5D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Diagrama de Casos de Uso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166943" y="1365286"/>
            <a:ext cx="9954114" cy="8759621"/>
          </a:xfrm>
          <a:custGeom>
            <a:avLst/>
            <a:gdLst/>
            <a:ahLst/>
            <a:cxnLst/>
            <a:rect r="r" b="b" t="t" l="l"/>
            <a:pathLst>
              <a:path h="8759621" w="9954114">
                <a:moveTo>
                  <a:pt x="0" y="0"/>
                </a:moveTo>
                <a:lnTo>
                  <a:pt x="9954114" y="0"/>
                </a:lnTo>
                <a:lnTo>
                  <a:pt x="9954114" y="8759621"/>
                </a:lnTo>
                <a:lnTo>
                  <a:pt x="0" y="8759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-1654338" y="1365286"/>
            <a:ext cx="2860802" cy="2860802"/>
          </a:xfrm>
          <a:custGeom>
            <a:avLst/>
            <a:gdLst/>
            <a:ahLst/>
            <a:cxnLst/>
            <a:rect r="r" b="b" t="t" l="l"/>
            <a:pathLst>
              <a:path h="2860802" w="2860802">
                <a:moveTo>
                  <a:pt x="2860802" y="0"/>
                </a:moveTo>
                <a:lnTo>
                  <a:pt x="0" y="0"/>
                </a:lnTo>
                <a:lnTo>
                  <a:pt x="0" y="2860802"/>
                </a:lnTo>
                <a:lnTo>
                  <a:pt x="2860802" y="2860802"/>
                </a:lnTo>
                <a:lnTo>
                  <a:pt x="2860802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206464" y="-1139988"/>
            <a:ext cx="2505275" cy="2505275"/>
          </a:xfrm>
          <a:custGeom>
            <a:avLst/>
            <a:gdLst/>
            <a:ahLst/>
            <a:cxnLst/>
            <a:rect r="r" b="b" t="t" l="l"/>
            <a:pathLst>
              <a:path h="2505275" w="2505275">
                <a:moveTo>
                  <a:pt x="2505274" y="0"/>
                </a:moveTo>
                <a:lnTo>
                  <a:pt x="0" y="0"/>
                </a:lnTo>
                <a:lnTo>
                  <a:pt x="0" y="2505274"/>
                </a:lnTo>
                <a:lnTo>
                  <a:pt x="2505274" y="2505274"/>
                </a:lnTo>
                <a:lnTo>
                  <a:pt x="2505274" y="0"/>
                </a:lnTo>
                <a:close/>
              </a:path>
            </a:pathLst>
          </a:custGeom>
          <a:blipFill>
            <a:blip r:embed="rId4">
              <a:alphaModFix amt="6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17550" y="1594926"/>
            <a:ext cx="9652900" cy="8368366"/>
          </a:xfrm>
          <a:custGeom>
            <a:avLst/>
            <a:gdLst/>
            <a:ahLst/>
            <a:cxnLst/>
            <a:rect r="r" b="b" t="t" l="l"/>
            <a:pathLst>
              <a:path h="8368366" w="9652900">
                <a:moveTo>
                  <a:pt x="0" y="0"/>
                </a:moveTo>
                <a:lnTo>
                  <a:pt x="9652900" y="0"/>
                </a:lnTo>
                <a:lnTo>
                  <a:pt x="9652900" y="8368365"/>
                </a:lnTo>
                <a:lnTo>
                  <a:pt x="0" y="8368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89278" y="431185"/>
            <a:ext cx="9509444" cy="82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6000" spc="210">
                <a:solidFill>
                  <a:srgbClr val="65C5D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Diagrama de Classes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5761" y="2901342"/>
            <a:ext cx="4235323" cy="6356958"/>
          </a:xfrm>
          <a:custGeom>
            <a:avLst/>
            <a:gdLst/>
            <a:ahLst/>
            <a:cxnLst/>
            <a:rect r="r" b="b" t="t" l="l"/>
            <a:pathLst>
              <a:path h="6356958" w="4235323">
                <a:moveTo>
                  <a:pt x="0" y="0"/>
                </a:moveTo>
                <a:lnTo>
                  <a:pt x="4235323" y="0"/>
                </a:lnTo>
                <a:lnTo>
                  <a:pt x="423532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13398" y="2901342"/>
            <a:ext cx="4235323" cy="6356958"/>
          </a:xfrm>
          <a:custGeom>
            <a:avLst/>
            <a:gdLst/>
            <a:ahLst/>
            <a:cxnLst/>
            <a:rect r="r" b="b" t="t" l="l"/>
            <a:pathLst>
              <a:path h="6356958" w="4235323">
                <a:moveTo>
                  <a:pt x="0" y="0"/>
                </a:moveTo>
                <a:lnTo>
                  <a:pt x="4235323" y="0"/>
                </a:lnTo>
                <a:lnTo>
                  <a:pt x="423532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23004" y="2901342"/>
            <a:ext cx="4235323" cy="6356958"/>
          </a:xfrm>
          <a:custGeom>
            <a:avLst/>
            <a:gdLst/>
            <a:ahLst/>
            <a:cxnLst/>
            <a:rect r="r" b="b" t="t" l="l"/>
            <a:pathLst>
              <a:path h="6356958" w="4235323">
                <a:moveTo>
                  <a:pt x="0" y="0"/>
                </a:moveTo>
                <a:lnTo>
                  <a:pt x="4235323" y="0"/>
                </a:lnTo>
                <a:lnTo>
                  <a:pt x="423532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98927" y="2901342"/>
            <a:ext cx="4235323" cy="6356958"/>
          </a:xfrm>
          <a:custGeom>
            <a:avLst/>
            <a:gdLst/>
            <a:ahLst/>
            <a:cxnLst/>
            <a:rect r="r" b="b" t="t" l="l"/>
            <a:pathLst>
              <a:path h="6356958" w="4235323">
                <a:moveTo>
                  <a:pt x="0" y="0"/>
                </a:moveTo>
                <a:lnTo>
                  <a:pt x="4235323" y="0"/>
                </a:lnTo>
                <a:lnTo>
                  <a:pt x="423532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66916" y="2901342"/>
            <a:ext cx="4235323" cy="6356958"/>
          </a:xfrm>
          <a:custGeom>
            <a:avLst/>
            <a:gdLst/>
            <a:ahLst/>
            <a:cxnLst/>
            <a:rect r="r" b="b" t="t" l="l"/>
            <a:pathLst>
              <a:path h="6356958" w="4235323">
                <a:moveTo>
                  <a:pt x="0" y="0"/>
                </a:moveTo>
                <a:lnTo>
                  <a:pt x="4235323" y="0"/>
                </a:lnTo>
                <a:lnTo>
                  <a:pt x="423532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14776" y="1884984"/>
            <a:ext cx="10148081" cy="82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6000" spc="210">
                <a:solidFill>
                  <a:srgbClr val="BD93C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Protótipo de Interfaces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1057" y="3321821"/>
            <a:ext cx="3043394" cy="6356958"/>
          </a:xfrm>
          <a:custGeom>
            <a:avLst/>
            <a:gdLst/>
            <a:ahLst/>
            <a:cxnLst/>
            <a:rect r="r" b="b" t="t" l="l"/>
            <a:pathLst>
              <a:path h="6356958" w="3043394">
                <a:moveTo>
                  <a:pt x="0" y="0"/>
                </a:moveTo>
                <a:lnTo>
                  <a:pt x="3043394" y="0"/>
                </a:lnTo>
                <a:lnTo>
                  <a:pt x="304339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57995" y="3321821"/>
            <a:ext cx="2971878" cy="6356958"/>
          </a:xfrm>
          <a:custGeom>
            <a:avLst/>
            <a:gdLst/>
            <a:ahLst/>
            <a:cxnLst/>
            <a:rect r="r" b="b" t="t" l="l"/>
            <a:pathLst>
              <a:path h="6356958" w="2971878">
                <a:moveTo>
                  <a:pt x="0" y="0"/>
                </a:moveTo>
                <a:lnTo>
                  <a:pt x="2971878" y="0"/>
                </a:lnTo>
                <a:lnTo>
                  <a:pt x="297187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73417" y="3321821"/>
            <a:ext cx="3051340" cy="6311982"/>
          </a:xfrm>
          <a:custGeom>
            <a:avLst/>
            <a:gdLst/>
            <a:ahLst/>
            <a:cxnLst/>
            <a:rect r="r" b="b" t="t" l="l"/>
            <a:pathLst>
              <a:path h="6311982" w="3051340">
                <a:moveTo>
                  <a:pt x="0" y="0"/>
                </a:moveTo>
                <a:lnTo>
                  <a:pt x="3051340" y="0"/>
                </a:lnTo>
                <a:lnTo>
                  <a:pt x="3051340" y="6311982"/>
                </a:lnTo>
                <a:lnTo>
                  <a:pt x="0" y="63119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71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172482" y="3299333"/>
            <a:ext cx="2987770" cy="6356958"/>
          </a:xfrm>
          <a:custGeom>
            <a:avLst/>
            <a:gdLst/>
            <a:ahLst/>
            <a:cxnLst/>
            <a:rect r="r" b="b" t="t" l="l"/>
            <a:pathLst>
              <a:path h="6356958" w="2987770">
                <a:moveTo>
                  <a:pt x="0" y="0"/>
                </a:moveTo>
                <a:lnTo>
                  <a:pt x="2987770" y="0"/>
                </a:lnTo>
                <a:lnTo>
                  <a:pt x="298777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09570" y="817466"/>
            <a:ext cx="8468861" cy="82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6000" spc="210">
                <a:solidFill>
                  <a:srgbClr val="BD93C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Protótipo de PWEB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0497" y="1255062"/>
            <a:ext cx="14500062" cy="234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0"/>
              </a:lnSpc>
            </a:pPr>
          </a:p>
          <a:p>
            <a:pPr algn="just" marL="388620" indent="-194310" lvl="1">
              <a:lnSpc>
                <a:spcPts val="2933"/>
              </a:lnSpc>
              <a:buFont typeface="Arial"/>
              <a:buChar char="•"/>
            </a:pPr>
            <a:r>
              <a:rPr lang="en-US" b="true" sz="1800" spc="98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Linguagem: JavaScript e JSX com biblioteca React.js.</a:t>
            </a:r>
          </a:p>
          <a:p>
            <a:pPr algn="just" marL="388620" indent="-194310" lvl="1">
              <a:lnSpc>
                <a:spcPts val="2933"/>
              </a:lnSpc>
              <a:buFont typeface="Arial"/>
              <a:buChar char="•"/>
            </a:pPr>
            <a:r>
              <a:rPr lang="en-US" b="true" sz="1800" spc="98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Design</a:t>
            </a:r>
            <a:r>
              <a:rPr lang="en-US" b="true" sz="1800" spc="98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Framework Tailwind CSS</a:t>
            </a:r>
          </a:p>
          <a:p>
            <a:pPr algn="just" marL="388620" indent="-194310" lvl="1">
              <a:lnSpc>
                <a:spcPts val="2933"/>
              </a:lnSpc>
              <a:buFont typeface="Arial"/>
              <a:buChar char="•"/>
            </a:pPr>
            <a:r>
              <a:rPr lang="en-US" b="true" sz="1800" spc="98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Ícones: Biblioteca Lucide React para elementos visuais leves e vetoriais.</a:t>
            </a:r>
          </a:p>
          <a:p>
            <a:pPr algn="just" marL="388620" indent="-194310" lvl="1">
              <a:lnSpc>
                <a:spcPts val="2933"/>
              </a:lnSpc>
              <a:buFont typeface="Arial"/>
              <a:buChar char="•"/>
            </a:pPr>
            <a:r>
              <a:rPr lang="en-US" b="true" sz="1800" spc="98">
                <a:solidFill>
                  <a:srgbClr val="7594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Armazenamento: Web Storage API (LocalStorage). (em formato JSON simples)</a:t>
            </a:r>
          </a:p>
          <a:p>
            <a:pPr algn="just" marL="0" indent="0" lvl="0">
              <a:lnSpc>
                <a:spcPts val="391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9712807" y="1639196"/>
            <a:ext cx="14261374" cy="7804861"/>
          </a:xfrm>
          <a:custGeom>
            <a:avLst/>
            <a:gdLst/>
            <a:ahLst/>
            <a:cxnLst/>
            <a:rect r="r" b="b" t="t" l="l"/>
            <a:pathLst>
              <a:path h="7804861" w="14261374">
                <a:moveTo>
                  <a:pt x="0" y="0"/>
                </a:moveTo>
                <a:lnTo>
                  <a:pt x="14261374" y="0"/>
                </a:lnTo>
                <a:lnTo>
                  <a:pt x="14261374" y="7804861"/>
                </a:lnTo>
                <a:lnTo>
                  <a:pt x="0" y="780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61370" y="4561482"/>
            <a:ext cx="8978751" cy="9393637"/>
          </a:xfrm>
          <a:custGeom>
            <a:avLst/>
            <a:gdLst/>
            <a:ahLst/>
            <a:cxnLst/>
            <a:rect r="r" b="b" t="t" l="l"/>
            <a:pathLst>
              <a:path h="9393637" w="8978751">
                <a:moveTo>
                  <a:pt x="0" y="0"/>
                </a:moveTo>
                <a:lnTo>
                  <a:pt x="8978751" y="0"/>
                </a:lnTo>
                <a:lnTo>
                  <a:pt x="8978751" y="9393636"/>
                </a:lnTo>
                <a:lnTo>
                  <a:pt x="0" y="93936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2941063" y="2588869"/>
            <a:ext cx="1781574" cy="1781574"/>
          </a:xfrm>
          <a:custGeom>
            <a:avLst/>
            <a:gdLst/>
            <a:ahLst/>
            <a:cxnLst/>
            <a:rect r="r" b="b" t="t" l="l"/>
            <a:pathLst>
              <a:path h="1781574" w="1781574">
                <a:moveTo>
                  <a:pt x="1781575" y="0"/>
                </a:moveTo>
                <a:lnTo>
                  <a:pt x="0" y="0"/>
                </a:lnTo>
                <a:lnTo>
                  <a:pt x="0" y="1781574"/>
                </a:lnTo>
                <a:lnTo>
                  <a:pt x="1781575" y="1781574"/>
                </a:lnTo>
                <a:lnTo>
                  <a:pt x="1781575" y="0"/>
                </a:lnTo>
                <a:close/>
              </a:path>
            </a:pathLst>
          </a:custGeom>
          <a:blipFill>
            <a:blip r:embed="rId5">
              <a:alphaModFix amt="6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800000">
            <a:off x="14722638" y="1028700"/>
            <a:ext cx="1560169" cy="1560169"/>
          </a:xfrm>
          <a:custGeom>
            <a:avLst/>
            <a:gdLst/>
            <a:ahLst/>
            <a:cxnLst/>
            <a:rect r="r" b="b" t="t" l="l"/>
            <a:pathLst>
              <a:path h="1560169" w="1560169">
                <a:moveTo>
                  <a:pt x="1560168" y="0"/>
                </a:moveTo>
                <a:lnTo>
                  <a:pt x="0" y="0"/>
                </a:lnTo>
                <a:lnTo>
                  <a:pt x="0" y="1560169"/>
                </a:lnTo>
                <a:lnTo>
                  <a:pt x="1560168" y="1560169"/>
                </a:lnTo>
                <a:lnTo>
                  <a:pt x="1560168" y="0"/>
                </a:lnTo>
                <a:close/>
              </a:path>
            </a:pathLst>
          </a:custGeom>
          <a:blipFill>
            <a:blip r:embed="rId7">
              <a:alphaModFix amt="69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84510" y="2901342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14776" y="1884984"/>
            <a:ext cx="10148081" cy="82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6000" spc="210">
                <a:solidFill>
                  <a:srgbClr val="BD93C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Protótipo de Interfaces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93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6927476" y="1536118"/>
            <a:ext cx="11984246" cy="12499865"/>
          </a:xfrm>
          <a:custGeom>
            <a:avLst/>
            <a:gdLst/>
            <a:ahLst/>
            <a:cxnLst/>
            <a:rect r="r" b="b" t="t" l="l"/>
            <a:pathLst>
              <a:path h="12499865" w="11984246">
                <a:moveTo>
                  <a:pt x="11984246" y="0"/>
                </a:moveTo>
                <a:lnTo>
                  <a:pt x="0" y="0"/>
                </a:lnTo>
                <a:lnTo>
                  <a:pt x="0" y="12499865"/>
                </a:lnTo>
                <a:lnTo>
                  <a:pt x="11984246" y="12499865"/>
                </a:lnTo>
                <a:lnTo>
                  <a:pt x="11984246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88404" y="3380087"/>
            <a:ext cx="10684590" cy="3431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2"/>
              </a:lnSpc>
            </a:pPr>
            <a:r>
              <a:rPr lang="en-US" b="true" sz="2400" spc="13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projeto avançou com a definição clara do problema, levantamento dos requisitos e validação inicial com usuários e especialistas. As principais dificuldades incluíram organizar as necessidades diversas do público com TDAH e transformar essas demandas em funcionalidades objetivas do sistema.</a:t>
            </a:r>
          </a:p>
          <a:p>
            <a:pPr algn="l">
              <a:lnSpc>
                <a:spcPts val="3912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388404" y="1612318"/>
            <a:ext cx="10215026" cy="83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6000" spc="21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Conclusão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93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6927476" y="1536118"/>
            <a:ext cx="11984246" cy="12499865"/>
          </a:xfrm>
          <a:custGeom>
            <a:avLst/>
            <a:gdLst/>
            <a:ahLst/>
            <a:cxnLst/>
            <a:rect r="r" b="b" t="t" l="l"/>
            <a:pathLst>
              <a:path h="12499865" w="11984246">
                <a:moveTo>
                  <a:pt x="11984246" y="0"/>
                </a:moveTo>
                <a:lnTo>
                  <a:pt x="0" y="0"/>
                </a:lnTo>
                <a:lnTo>
                  <a:pt x="0" y="12499865"/>
                </a:lnTo>
                <a:lnTo>
                  <a:pt x="11984246" y="12499865"/>
                </a:lnTo>
                <a:lnTo>
                  <a:pt x="11984246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88404" y="3380087"/>
            <a:ext cx="10684590" cy="3431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2"/>
              </a:lnSpc>
            </a:pPr>
            <a:r>
              <a:rPr lang="en-US" b="true" sz="2400" spc="13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Mesmo assim, a pesquisa trouxe insights valiosos que fortaleceram a proposta.</a:t>
            </a:r>
          </a:p>
          <a:p>
            <a:pPr algn="just">
              <a:lnSpc>
                <a:spcPts val="3912"/>
              </a:lnSpc>
            </a:pPr>
            <a:r>
              <a:rPr lang="en-US" b="true" sz="2400" spc="13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Para as próximas etapas, o foco será evoluir o protótipo, refinar requisitos e iniciar o desenvolvimento técnico, garantindo que o aplicativo seja funcional, acessível e realmente útil para o público-alvo.</a:t>
            </a:r>
          </a:p>
          <a:p>
            <a:pPr algn="just">
              <a:lnSpc>
                <a:spcPts val="3912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388404" y="1612318"/>
            <a:ext cx="10215026" cy="83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6000" spc="21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Conclusão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DAG50aP-Nx0</dc:identifier>
  <dcterms:modified xsi:type="dcterms:W3CDTF">2011-08-01T06:04:30Z</dcterms:modified>
  <cp:revision>1</cp:revision>
  <dc:title>Engenharia de Software 2 - Apresentação</dc:title>
</cp:coreProperties>
</file>